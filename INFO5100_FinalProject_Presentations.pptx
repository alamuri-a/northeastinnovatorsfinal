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8" r:id="rId11"/>
    <p:sldId id="270" r:id="rId12"/>
    <p:sldId id="264" r:id="rId13"/>
    <p:sldId id="265" r:id="rId14"/>
    <p:sldId id="269" r:id="rId15"/>
    <p:sldId id="271" r:id="rId16"/>
    <p:sldId id="266" r:id="rId17"/>
    <p:sldId id="275" r:id="rId18"/>
    <p:sldId id="276" r:id="rId19"/>
    <p:sldId id="278" r:id="rId20"/>
    <p:sldId id="274" r:id="rId21"/>
    <p:sldId id="272" r:id="rId22"/>
    <p:sldId id="279" r:id="rId23"/>
    <p:sldId id="280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113F13-730F-40CE-A4F5-12A4AC16F51E}" v="1" dt="2026-08-04T17:46:17.0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90" y="10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redith Molyneux" userId="20632900-e5ec-40f8-bd4f-73482d821db4" providerId="ADAL" clId="{632D1CBF-1807-4428-B9A0-00372D4FA70E}"/>
    <pc:docChg chg="custSel modSld">
      <pc:chgData name="Meredith Molyneux" userId="20632900-e5ec-40f8-bd4f-73482d821db4" providerId="ADAL" clId="{632D1CBF-1807-4428-B9A0-00372D4FA70E}" dt="2026-08-04T18:25:24.701" v="259" actId="14100"/>
      <pc:docMkLst>
        <pc:docMk/>
      </pc:docMkLst>
      <pc:sldChg chg="addSp delSp modSp mod">
        <pc:chgData name="Meredith Molyneux" userId="20632900-e5ec-40f8-bd4f-73482d821db4" providerId="ADAL" clId="{632D1CBF-1807-4428-B9A0-00372D4FA70E}" dt="2026-08-04T18:25:24.701" v="259" actId="14100"/>
        <pc:sldMkLst>
          <pc:docMk/>
          <pc:sldMk cId="0" sldId="265"/>
        </pc:sldMkLst>
        <pc:spChg chg="mod">
          <ac:chgData name="Meredith Molyneux" userId="20632900-e5ec-40f8-bd4f-73482d821db4" providerId="ADAL" clId="{632D1CBF-1807-4428-B9A0-00372D4FA70E}" dt="2026-08-04T18:25:05.986" v="256" actId="20577"/>
          <ac:spMkLst>
            <pc:docMk/>
            <pc:sldMk cId="0" sldId="265"/>
            <ac:spMk id="34" creationId="{00000000-0000-0000-0000-000000000000}"/>
          </ac:spMkLst>
        </pc:spChg>
        <pc:spChg chg="mod">
          <ac:chgData name="Meredith Molyneux" userId="20632900-e5ec-40f8-bd4f-73482d821db4" providerId="ADAL" clId="{632D1CBF-1807-4428-B9A0-00372D4FA70E}" dt="2026-08-04T18:25:24.701" v="259" actId="14100"/>
          <ac:spMkLst>
            <pc:docMk/>
            <pc:sldMk cId="0" sldId="265"/>
            <ac:spMk id="35" creationId="{00000000-0000-0000-0000-000000000000}"/>
          </ac:spMkLst>
        </pc:spChg>
        <pc:spChg chg="mod">
          <ac:chgData name="Meredith Molyneux" userId="20632900-e5ec-40f8-bd4f-73482d821db4" providerId="ADAL" clId="{632D1CBF-1807-4428-B9A0-00372D4FA70E}" dt="2026-08-04T18:25:24.701" v="259" actId="14100"/>
          <ac:spMkLst>
            <pc:docMk/>
            <pc:sldMk cId="0" sldId="265"/>
            <ac:spMk id="36" creationId="{00000000-0000-0000-0000-000000000000}"/>
          </ac:spMkLst>
        </pc:spChg>
        <pc:spChg chg="mod">
          <ac:chgData name="Meredith Molyneux" userId="20632900-e5ec-40f8-bd4f-73482d821db4" providerId="ADAL" clId="{632D1CBF-1807-4428-B9A0-00372D4FA70E}" dt="2026-08-04T18:25:24.701" v="259" actId="14100"/>
          <ac:spMkLst>
            <pc:docMk/>
            <pc:sldMk cId="0" sldId="265"/>
            <ac:spMk id="37" creationId="{00000000-0000-0000-0000-000000000000}"/>
          </ac:spMkLst>
        </pc:spChg>
        <pc:spChg chg="mod">
          <ac:chgData name="Meredith Molyneux" userId="20632900-e5ec-40f8-bd4f-73482d821db4" providerId="ADAL" clId="{632D1CBF-1807-4428-B9A0-00372D4FA70E}" dt="2026-08-04T18:25:24.701" v="259" actId="14100"/>
          <ac:spMkLst>
            <pc:docMk/>
            <pc:sldMk cId="0" sldId="265"/>
            <ac:spMk id="38" creationId="{00000000-0000-0000-0000-000000000000}"/>
          </ac:spMkLst>
        </pc:spChg>
        <pc:spChg chg="mod">
          <ac:chgData name="Meredith Molyneux" userId="20632900-e5ec-40f8-bd4f-73482d821db4" providerId="ADAL" clId="{632D1CBF-1807-4428-B9A0-00372D4FA70E}" dt="2026-08-04T18:25:24.701" v="259" actId="14100"/>
          <ac:spMkLst>
            <pc:docMk/>
            <pc:sldMk cId="0" sldId="265"/>
            <ac:spMk id="39" creationId="{00000000-0000-0000-0000-000000000000}"/>
          </ac:spMkLst>
        </pc:spChg>
        <pc:spChg chg="del">
          <ac:chgData name="Meredith Molyneux" userId="20632900-e5ec-40f8-bd4f-73482d821db4" providerId="ADAL" clId="{632D1CBF-1807-4428-B9A0-00372D4FA70E}" dt="2026-08-04T18:24:44.585" v="236" actId="478"/>
          <ac:spMkLst>
            <pc:docMk/>
            <pc:sldMk cId="0" sldId="265"/>
            <ac:spMk id="40" creationId="{00000000-0000-0000-0000-000000000000}"/>
          </ac:spMkLst>
        </pc:spChg>
        <pc:spChg chg="del">
          <ac:chgData name="Meredith Molyneux" userId="20632900-e5ec-40f8-bd4f-73482d821db4" providerId="ADAL" clId="{632D1CBF-1807-4428-B9A0-00372D4FA70E}" dt="2026-08-04T18:24:46.205" v="237" actId="478"/>
          <ac:spMkLst>
            <pc:docMk/>
            <pc:sldMk cId="0" sldId="265"/>
            <ac:spMk id="41" creationId="{00000000-0000-0000-0000-000000000000}"/>
          </ac:spMkLst>
        </pc:spChg>
        <pc:spChg chg="del mod">
          <ac:chgData name="Meredith Molyneux" userId="20632900-e5ec-40f8-bd4f-73482d821db4" providerId="ADAL" clId="{632D1CBF-1807-4428-B9A0-00372D4FA70E}" dt="2026-08-04T18:24:49.235" v="238" actId="478"/>
          <ac:spMkLst>
            <pc:docMk/>
            <pc:sldMk cId="0" sldId="265"/>
            <ac:spMk id="42" creationId="{00000000-0000-0000-0000-000000000000}"/>
          </ac:spMkLst>
        </pc:spChg>
        <pc:spChg chg="del mod">
          <ac:chgData name="Meredith Molyneux" userId="20632900-e5ec-40f8-bd4f-73482d821db4" providerId="ADAL" clId="{632D1CBF-1807-4428-B9A0-00372D4FA70E}" dt="2026-08-04T17:45:15.029" v="187" actId="478"/>
          <ac:spMkLst>
            <pc:docMk/>
            <pc:sldMk cId="0" sldId="265"/>
            <ac:spMk id="43" creationId="{00000000-0000-0000-0000-000000000000}"/>
          </ac:spMkLst>
        </pc:spChg>
        <pc:spChg chg="del mod">
          <ac:chgData name="Meredith Molyneux" userId="20632900-e5ec-40f8-bd4f-73482d821db4" providerId="ADAL" clId="{632D1CBF-1807-4428-B9A0-00372D4FA70E}" dt="2026-08-04T18:24:53.605" v="240" actId="478"/>
          <ac:spMkLst>
            <pc:docMk/>
            <pc:sldMk cId="0" sldId="265"/>
            <ac:spMk id="44" creationId="{00000000-0000-0000-0000-000000000000}"/>
          </ac:spMkLst>
        </pc:spChg>
        <pc:spChg chg="mod">
          <ac:chgData name="Meredith Molyneux" userId="20632900-e5ec-40f8-bd4f-73482d821db4" providerId="ADAL" clId="{632D1CBF-1807-4428-B9A0-00372D4FA70E}" dt="2026-08-04T18:25:18.362" v="258" actId="1076"/>
          <ac:spMkLst>
            <pc:docMk/>
            <pc:sldMk cId="0" sldId="265"/>
            <ac:spMk id="45" creationId="{00000000-0000-0000-0000-000000000000}"/>
          </ac:spMkLst>
        </pc:spChg>
        <pc:spChg chg="mod">
          <ac:chgData name="Meredith Molyneux" userId="20632900-e5ec-40f8-bd4f-73482d821db4" providerId="ADAL" clId="{632D1CBF-1807-4428-B9A0-00372D4FA70E}" dt="2026-08-04T18:25:18.362" v="258" actId="1076"/>
          <ac:spMkLst>
            <pc:docMk/>
            <pc:sldMk cId="0" sldId="265"/>
            <ac:spMk id="46" creationId="{00000000-0000-0000-0000-000000000000}"/>
          </ac:spMkLst>
        </pc:spChg>
        <pc:spChg chg="mod">
          <ac:chgData name="Meredith Molyneux" userId="20632900-e5ec-40f8-bd4f-73482d821db4" providerId="ADAL" clId="{632D1CBF-1807-4428-B9A0-00372D4FA70E}" dt="2026-08-04T18:25:18.362" v="258" actId="1076"/>
          <ac:spMkLst>
            <pc:docMk/>
            <pc:sldMk cId="0" sldId="265"/>
            <ac:spMk id="47" creationId="{00000000-0000-0000-0000-000000000000}"/>
          </ac:spMkLst>
        </pc:spChg>
        <pc:spChg chg="mod">
          <ac:chgData name="Meredith Molyneux" userId="20632900-e5ec-40f8-bd4f-73482d821db4" providerId="ADAL" clId="{632D1CBF-1807-4428-B9A0-00372D4FA70E}" dt="2026-08-04T18:25:18.362" v="258" actId="1076"/>
          <ac:spMkLst>
            <pc:docMk/>
            <pc:sldMk cId="0" sldId="265"/>
            <ac:spMk id="48" creationId="{00000000-0000-0000-0000-000000000000}"/>
          </ac:spMkLst>
        </pc:spChg>
        <pc:spChg chg="mod">
          <ac:chgData name="Meredith Molyneux" userId="20632900-e5ec-40f8-bd4f-73482d821db4" providerId="ADAL" clId="{632D1CBF-1807-4428-B9A0-00372D4FA70E}" dt="2026-08-04T18:25:18.362" v="258" actId="1076"/>
          <ac:spMkLst>
            <pc:docMk/>
            <pc:sldMk cId="0" sldId="265"/>
            <ac:spMk id="49" creationId="{00000000-0000-0000-0000-000000000000}"/>
          </ac:spMkLst>
        </pc:spChg>
        <pc:spChg chg="add del mod">
          <ac:chgData name="Meredith Molyneux" userId="20632900-e5ec-40f8-bd4f-73482d821db4" providerId="ADAL" clId="{632D1CBF-1807-4428-B9A0-00372D4FA70E}" dt="2026-08-04T18:24:50.238" v="239" actId="478"/>
          <ac:spMkLst>
            <pc:docMk/>
            <pc:sldMk cId="0" sldId="265"/>
            <ac:spMk id="51" creationId="{2297501D-0D4B-B0F6-578C-BD683BBBBFB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5BB53-F8C3-2550-2697-A249F4415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AA1D68-7B95-EDA0-E652-FEF833D44E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F675B6-2091-E08C-716E-2B48B18907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582F70-A2CF-6ABF-EDBB-5CD318B165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341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2A13F-F8C7-BDA7-74F5-2C2D925FD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F9674C-0F8D-CC00-3F52-720B530B11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F8D61B-F462-9665-95FF-FEDBDCCF3D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B0D1E9-D11C-D319-0716-F16A41C27C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2029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069B5-9076-627D-EDFB-BFE021BA1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67C11D-0209-3383-BD5E-441125ECFA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8FE05C-B913-24F4-3680-874965C720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AEAAE3-4C2E-1D08-D3CF-73C5041023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0058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6A189-2CE5-FA65-3F14-2360CFB42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12A739-C1F0-D659-A072-D97D5966EE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3EA228-95BB-30D2-806F-F1832F7055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0BD8F0-AC7E-8EE4-5650-D3568238D0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0790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1874520"/>
            <a:ext cx="74980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603504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6927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lucid.app/lucidchart/768ab6b4-c5b8-41b4-b178-09ecba125bd5/edit?viewport_loc=-6062%2C206%2C8013%2C3876%2C0_0&amp;invitationId=inv_722aa7f8-7de5-4923-8e6d-13f0fcf0f1ff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lamuri-a/NortheastInnovatorsFinal.git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eet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6032" y="256032"/>
            <a:ext cx="8631936" cy="4631436"/>
          </a:xfrm>
          <a:prstGeom prst="rect">
            <a:avLst/>
          </a:prstGeom>
          <a:ln w="12700">
            <a:solidFill>
              <a:srgbClr val="1C9F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6032" y="256032"/>
            <a:ext cx="128016" cy="0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6032" y="256032"/>
            <a:ext cx="0" cy="128016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59952" y="4887468"/>
            <a:ext cx="128016" cy="0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87968" y="4759452"/>
            <a:ext cx="0" cy="128016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22960" y="1371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>
                <a:solidFill>
                  <a:srgbClr val="3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 DESIGN  ·  USE-CASE TEST MODEL</a:t>
            </a:r>
            <a:endParaRPr lang="en-US" sz="1100"/>
          </a:p>
        </p:txBody>
      </p:sp>
      <p:sp>
        <p:nvSpPr>
          <p:cNvPr id="38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187452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4400" b="1" kern="0" spc="10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 AUTO ECOSYSTEM</a:t>
            </a:r>
            <a:endParaRPr lang="en-US" sz="4400"/>
          </a:p>
        </p:txBody>
      </p:sp>
      <p:sp>
        <p:nvSpPr>
          <p:cNvPr id="39" name="Text 37"/>
          <p:cNvSpPr/>
          <p:nvPr/>
        </p:nvSpPr>
        <p:spPr>
          <a:xfrm>
            <a:off x="841248" y="3063240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cross-enterprise, cross-border network where a manufacturer, a dealer network, and a parts &amp; service supplier operate as separate legal entities.</a:t>
            </a:r>
            <a:endParaRPr lang="en-US" sz="1450"/>
          </a:p>
        </p:txBody>
      </p:sp>
      <p:sp>
        <p:nvSpPr>
          <p:cNvPr id="40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4114800"/>
            <a:ext cx="7461504" cy="0"/>
          </a:xfrm>
          <a:prstGeom prst="line">
            <a:avLst/>
          </a:prstGeom>
          <a:noFill/>
          <a:ln w="12700">
            <a:solidFill>
              <a:srgbClr val="1C9F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41248" y="422452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100">
                <a:solidFill>
                  <a:srgbClr val="3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NETWORK   3 ENTERPRISES   6 ORGANIZATIONS   8 ROLES</a:t>
            </a:r>
            <a:endParaRPr lang="en-US" sz="1250"/>
          </a:p>
        </p:txBody>
      </p:sp>
      <p:sp>
        <p:nvSpPr>
          <p:cNvPr id="42" name="Text 40"/>
          <p:cNvSpPr/>
          <p:nvPr/>
        </p:nvSpPr>
        <p:spPr>
          <a:xfrm>
            <a:off x="841248" y="454456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100">
                <a:solidFill>
                  <a:srgbClr val="D6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 ID: VIN   ·   FULL-LIFECYCLE PLATFORM   ·   DE / US / MX·KR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eet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6032" y="256032"/>
            <a:ext cx="8631936" cy="4631436"/>
          </a:xfrm>
          <a:prstGeom prst="rect">
            <a:avLst/>
          </a:prstGeom>
          <a:ln w="12700">
            <a:solidFill>
              <a:srgbClr val="1C9F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2920" y="3657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>
                <a:solidFill>
                  <a:srgbClr val="3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 DEFINITION</a:t>
            </a:r>
            <a:endParaRPr lang="en-US" sz="1100"/>
          </a:p>
        </p:txBody>
      </p:sp>
      <p:sp>
        <p:nvSpPr>
          <p:cNvPr id="3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60350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4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vehicle, three enterprises, no shared record</a:t>
            </a:r>
            <a:endParaRPr lang="en-US" sz="2400"/>
          </a:p>
        </p:txBody>
      </p:sp>
      <p:sp>
        <p:nvSpPr>
          <p:cNvPr id="35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2670048" cy="2926080"/>
          </a:xfrm>
          <a:prstGeom prst="rect">
            <a:avLst/>
          </a:prstGeom>
          <a:solidFill>
            <a:srgbClr val="10386A"/>
          </a:solidFill>
          <a:ln w="12700">
            <a:solidFill>
              <a:srgbClr val="1C9FB4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128016" cy="0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0" cy="128016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4952" y="4443984"/>
            <a:ext cx="128016" cy="0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72968" y="4315968"/>
            <a:ext cx="0" cy="128016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04088" y="171907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3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600"/>
          </a:p>
        </p:txBody>
      </p:sp>
      <p:sp>
        <p:nvSpPr>
          <p:cNvPr id="41" name="Text 39"/>
          <p:cNvSpPr/>
          <p:nvPr/>
        </p:nvSpPr>
        <p:spPr>
          <a:xfrm>
            <a:off x="704088" y="2267712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5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</a:t>
            </a:r>
            <a:endParaRPr lang="en-US" sz="1500"/>
          </a:p>
        </p:txBody>
      </p:sp>
      <p:sp>
        <p:nvSpPr>
          <p:cNvPr id="42" name="Text 40"/>
          <p:cNvSpPr/>
          <p:nvPr/>
        </p:nvSpPr>
        <p:spPr>
          <a:xfrm>
            <a:off x="704088" y="3090672"/>
            <a:ext cx="22677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vehicle's life spans a manufacturer, a dealer network, and a parts &amp; service supplier — three separate legal entities on separate systems across borders, with no shared record.</a:t>
            </a:r>
            <a:endParaRPr lang="en-US" sz="1250"/>
          </a:p>
        </p:txBody>
      </p:sp>
      <p:sp>
        <p:nvSpPr>
          <p:cNvPr id="43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38144" y="1517904"/>
            <a:ext cx="2670048" cy="2926080"/>
          </a:xfrm>
          <a:prstGeom prst="rect">
            <a:avLst/>
          </a:prstGeom>
          <a:solidFill>
            <a:srgbClr val="10386A"/>
          </a:solidFill>
          <a:ln w="12700">
            <a:solidFill>
              <a:srgbClr val="1C9FB4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38144" y="1517904"/>
            <a:ext cx="128016" cy="0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38144" y="1517904"/>
            <a:ext cx="0" cy="128016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80176" y="4443984"/>
            <a:ext cx="128016" cy="0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08192" y="4315968"/>
            <a:ext cx="0" cy="128016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639312" y="171907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3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600"/>
          </a:p>
        </p:txBody>
      </p:sp>
      <p:sp>
        <p:nvSpPr>
          <p:cNvPr id="49" name="Text 47"/>
          <p:cNvSpPr/>
          <p:nvPr/>
        </p:nvSpPr>
        <p:spPr>
          <a:xfrm>
            <a:off x="3639312" y="2267712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5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</a:t>
            </a:r>
            <a:endParaRPr lang="en-US" sz="1500"/>
          </a:p>
        </p:txBody>
      </p:sp>
      <p:sp>
        <p:nvSpPr>
          <p:cNvPr id="50" name="Text 48"/>
          <p:cNvSpPr/>
          <p:nvPr/>
        </p:nvSpPr>
        <p:spPr>
          <a:xfrm>
            <a:off x="3639312" y="3090672"/>
            <a:ext cx="22677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service history, and parts usage, sit in silos. With no common key, records can't be joined and status is lost at every cross-enterprise handoff.</a:t>
            </a:r>
            <a:endParaRPr lang="en-US" sz="1250"/>
          </a:p>
        </p:txBody>
      </p:sp>
      <p:sp>
        <p:nvSpPr>
          <p:cNvPr id="51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73368" y="1517904"/>
            <a:ext cx="2670048" cy="2926080"/>
          </a:xfrm>
          <a:prstGeom prst="rect">
            <a:avLst/>
          </a:prstGeom>
          <a:solidFill>
            <a:srgbClr val="10386A"/>
          </a:solidFill>
          <a:ln w="12700">
            <a:solidFill>
              <a:srgbClr val="1C9FB4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73368" y="1517904"/>
            <a:ext cx="128016" cy="0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73368" y="1517904"/>
            <a:ext cx="0" cy="128016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15400" y="4443984"/>
            <a:ext cx="128016" cy="0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43416" y="4315968"/>
            <a:ext cx="0" cy="128016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574536" y="171907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3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600"/>
          </a:p>
        </p:txBody>
      </p:sp>
      <p:sp>
        <p:nvSpPr>
          <p:cNvPr id="57" name="Text 55"/>
          <p:cNvSpPr/>
          <p:nvPr/>
        </p:nvSpPr>
        <p:spPr>
          <a:xfrm>
            <a:off x="6574536" y="2267712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5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endParaRPr lang="en-US" sz="1500"/>
          </a:p>
        </p:txBody>
      </p:sp>
      <p:sp>
        <p:nvSpPr>
          <p:cNvPr id="58" name="Text 56"/>
          <p:cNvSpPr/>
          <p:nvPr/>
        </p:nvSpPr>
        <p:spPr>
          <a:xfrm>
            <a:off x="6574536" y="3090672"/>
            <a:ext cx="22677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vehicle one identity — the VIN — and one shared, auditable record every enterprise reads and writes end to end, so the whole is worth more than the parts.</a:t>
            </a:r>
            <a:endParaRPr lang="en-US" sz="12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eet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6032" y="256032"/>
            <a:ext cx="8631936" cy="4631436"/>
          </a:xfrm>
          <a:prstGeom prst="rect">
            <a:avLst/>
          </a:prstGeom>
          <a:ln w="12700">
            <a:solidFill>
              <a:srgbClr val="1C9F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2920" y="3657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>
                <a:solidFill>
                  <a:srgbClr val="3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AN AUTOMOTIVE VALUE CHAIN</a:t>
            </a:r>
            <a:endParaRPr lang="en-US" sz="1100"/>
          </a:p>
        </p:txBody>
      </p:sp>
      <p:sp>
        <p:nvSpPr>
          <p:cNvPr id="3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60350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4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 properties make this the ideal test domain</a:t>
            </a:r>
            <a:endParaRPr lang="en-US" sz="2400"/>
          </a:p>
        </p:txBody>
      </p:sp>
      <p:sp>
        <p:nvSpPr>
          <p:cNvPr id="35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2670048" cy="2926080"/>
          </a:xfrm>
          <a:prstGeom prst="rect">
            <a:avLst/>
          </a:prstGeom>
          <a:solidFill>
            <a:srgbClr val="10386A"/>
          </a:solidFill>
          <a:ln w="12700">
            <a:solidFill>
              <a:srgbClr val="1C9FB4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128016" cy="0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0" cy="128016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4952" y="4443984"/>
            <a:ext cx="128016" cy="0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72968" y="4315968"/>
            <a:ext cx="0" cy="128016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04088" y="171907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3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600"/>
          </a:p>
        </p:txBody>
      </p:sp>
      <p:sp>
        <p:nvSpPr>
          <p:cNvPr id="41" name="Text 39"/>
          <p:cNvSpPr/>
          <p:nvPr/>
        </p:nvSpPr>
        <p:spPr>
          <a:xfrm>
            <a:off x="704088" y="2267712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CROSS-ENTERPRISE,</a:t>
            </a:r>
            <a:endParaRPr lang="en-US" sz="150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5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CROSS-BORDER</a:t>
            </a:r>
            <a:endParaRPr lang="en-US" sz="1500"/>
          </a:p>
        </p:txBody>
      </p:sp>
      <p:sp>
        <p:nvSpPr>
          <p:cNvPr id="42" name="Text 40"/>
          <p:cNvSpPr/>
          <p:nvPr/>
        </p:nvSpPr>
        <p:spPr>
          <a:xfrm>
            <a:off x="704088" y="3090672"/>
            <a:ext cx="22677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manufacturer, a dealer network, and a parts/service supplier are genuinely separate legal entities with separate systems — spanning national boundaries: Germany, the US, and Mexico / South Korea.</a:t>
            </a:r>
            <a:endParaRPr lang="en-US" sz="1250"/>
          </a:p>
        </p:txBody>
      </p:sp>
      <p:sp>
        <p:nvSpPr>
          <p:cNvPr id="43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38144" y="1517904"/>
            <a:ext cx="2670048" cy="2926080"/>
          </a:xfrm>
          <a:prstGeom prst="rect">
            <a:avLst/>
          </a:prstGeom>
          <a:solidFill>
            <a:srgbClr val="10386A"/>
          </a:solidFill>
          <a:ln w="12700">
            <a:solidFill>
              <a:srgbClr val="1C9FB4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38144" y="1517904"/>
            <a:ext cx="128016" cy="0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38144" y="1517904"/>
            <a:ext cx="0" cy="128016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80176" y="4443984"/>
            <a:ext cx="128016" cy="0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08192" y="4315968"/>
            <a:ext cx="0" cy="128016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639312" y="171907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3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600"/>
          </a:p>
        </p:txBody>
      </p:sp>
      <p:sp>
        <p:nvSpPr>
          <p:cNvPr id="49" name="Text 47"/>
          <p:cNvSpPr/>
          <p:nvPr/>
        </p:nvSpPr>
        <p:spPr>
          <a:xfrm>
            <a:off x="3639312" y="2267712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VIN — UNIVERSAL</a:t>
            </a:r>
            <a:endParaRPr lang="en-US" sz="150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5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 ID</a:t>
            </a:r>
            <a:endParaRPr lang="en-US" sz="1500"/>
          </a:p>
        </p:txBody>
      </p:sp>
      <p:sp>
        <p:nvSpPr>
          <p:cNvPr id="50" name="Text 48"/>
          <p:cNvSpPr/>
          <p:nvPr/>
        </p:nvSpPr>
        <p:spPr>
          <a:xfrm>
            <a:off x="3639312" y="3090672"/>
            <a:ext cx="22677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Vehicle Identification Number satisfies the unique-ID criterion directly and forms a natural join key across every module: sales record, service history, parts and usage.</a:t>
            </a:r>
            <a:endParaRPr lang="en-US" sz="1250"/>
          </a:p>
        </p:txBody>
      </p:sp>
      <p:sp>
        <p:nvSpPr>
          <p:cNvPr id="51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73368" y="1517904"/>
            <a:ext cx="2670048" cy="2926080"/>
          </a:xfrm>
          <a:prstGeom prst="rect">
            <a:avLst/>
          </a:prstGeom>
          <a:solidFill>
            <a:srgbClr val="10386A"/>
          </a:solidFill>
          <a:ln w="12700">
            <a:solidFill>
              <a:srgbClr val="1C9FB4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73368" y="1517904"/>
            <a:ext cx="128016" cy="0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73368" y="1517904"/>
            <a:ext cx="0" cy="128016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15400" y="4443984"/>
            <a:ext cx="128016" cy="0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43416" y="4315968"/>
            <a:ext cx="0" cy="128016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574536" y="171907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3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600"/>
          </a:p>
        </p:txBody>
      </p:sp>
      <p:sp>
        <p:nvSpPr>
          <p:cNvPr id="57" name="Text 55"/>
          <p:cNvSpPr/>
          <p:nvPr/>
        </p:nvSpPr>
        <p:spPr>
          <a:xfrm>
            <a:off x="6574536" y="2267712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150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5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MANAGEMENT</a:t>
            </a:r>
            <a:endParaRPr lang="en-US" sz="1500"/>
          </a:p>
        </p:txBody>
      </p:sp>
      <p:sp>
        <p:nvSpPr>
          <p:cNvPr id="58" name="Text 56"/>
          <p:cNvSpPr/>
          <p:nvPr/>
        </p:nvSpPr>
        <p:spPr>
          <a:xfrm>
            <a:off x="6574536" y="3090672"/>
            <a:ext cx="22677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>
                <a:solidFill>
                  <a:srgbClr val="D6E6F5"/>
                </a:solidFill>
                <a:latin typeface="Calibri"/>
                <a:ea typeface="Calibri"/>
                <a:cs typeface="Calibri"/>
              </a:rPr>
              <a:t>Vehicle and work-order flows run ordered → built → shipped → sold → in-service → serviced → traded-in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eet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6032" y="256032"/>
            <a:ext cx="8631936" cy="4631436"/>
          </a:xfrm>
          <a:prstGeom prst="rect">
            <a:avLst/>
          </a:prstGeom>
          <a:ln w="12700">
            <a:solidFill>
              <a:srgbClr val="1C9F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2920" y="3657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>
                <a:solidFill>
                  <a:srgbClr val="3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HIERARCHY</a:t>
            </a:r>
            <a:endParaRPr lang="en-US" sz="1100"/>
          </a:p>
        </p:txBody>
      </p:sp>
      <p:sp>
        <p:nvSpPr>
          <p:cNvPr id="35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1234440"/>
            <a:ext cx="2560320" cy="457200"/>
          </a:xfrm>
          <a:prstGeom prst="rect">
            <a:avLst/>
          </a:prstGeom>
          <a:solidFill>
            <a:srgbClr val="10386A"/>
          </a:solidFill>
          <a:ln w="12700">
            <a:solidFill>
              <a:srgbClr val="1C9FB4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291840" y="12710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3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 AUTO ECOSYSTEM</a:t>
            </a:r>
            <a:endParaRPr lang="en-US" sz="1150"/>
          </a:p>
        </p:txBody>
      </p:sp>
      <p:sp>
        <p:nvSpPr>
          <p:cNvPr id="37" name="Text 35"/>
          <p:cNvSpPr/>
          <p:nvPr/>
        </p:nvSpPr>
        <p:spPr>
          <a:xfrm>
            <a:off x="3291840" y="149961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>
                <a:solidFill>
                  <a:srgbClr val="8AA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</a:t>
            </a:r>
            <a:endParaRPr lang="en-US" sz="800"/>
          </a:p>
        </p:txBody>
      </p:sp>
      <p:sp>
        <p:nvSpPr>
          <p:cNvPr id="38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1691640"/>
            <a:ext cx="0" cy="182880"/>
          </a:xfrm>
          <a:prstGeom prst="line">
            <a:avLst/>
          </a:prstGeom>
          <a:noFill/>
          <a:ln w="15875">
            <a:solidFill>
              <a:srgbClr val="1C9F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83080" y="2148840"/>
            <a:ext cx="5577840" cy="0"/>
          </a:xfrm>
          <a:prstGeom prst="line">
            <a:avLst/>
          </a:prstGeom>
          <a:noFill/>
          <a:ln w="15875">
            <a:solidFill>
              <a:srgbClr val="1C9F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83080" y="2148840"/>
            <a:ext cx="0" cy="137160"/>
          </a:xfrm>
          <a:prstGeom prst="line">
            <a:avLst/>
          </a:prstGeom>
          <a:noFill/>
          <a:ln w="15875">
            <a:solidFill>
              <a:srgbClr val="1C9F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2148840"/>
            <a:ext cx="0" cy="137160"/>
          </a:xfrm>
          <a:prstGeom prst="line">
            <a:avLst/>
          </a:prstGeom>
          <a:noFill/>
          <a:ln w="15875">
            <a:solidFill>
              <a:srgbClr val="1C9F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60920" y="2148840"/>
            <a:ext cx="0" cy="137160"/>
          </a:xfrm>
          <a:prstGeom prst="line">
            <a:avLst/>
          </a:prstGeom>
          <a:noFill/>
          <a:ln w="15875">
            <a:solidFill>
              <a:srgbClr val="1C9F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4360" y="2286000"/>
            <a:ext cx="2377440" cy="566928"/>
          </a:xfrm>
          <a:prstGeom prst="rect">
            <a:avLst/>
          </a:prstGeom>
          <a:solidFill>
            <a:srgbClr val="10386A"/>
          </a:solidFill>
          <a:ln w="12700">
            <a:solidFill>
              <a:srgbClr val="1C9FB4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94360" y="234086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MANUFACTURER</a:t>
            </a:r>
            <a:endParaRPr lang="en-US" sz="1150"/>
          </a:p>
        </p:txBody>
      </p:sp>
      <p:sp>
        <p:nvSpPr>
          <p:cNvPr id="45" name="Text 43"/>
          <p:cNvSpPr/>
          <p:nvPr/>
        </p:nvSpPr>
        <p:spPr>
          <a:xfrm>
            <a:off x="594360" y="25877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>
                <a:solidFill>
                  <a:srgbClr val="3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</a:t>
            </a:r>
            <a:endParaRPr lang="en-US" sz="1050"/>
          </a:p>
        </p:txBody>
      </p:sp>
      <p:sp>
        <p:nvSpPr>
          <p:cNvPr id="46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83280" y="2286000"/>
            <a:ext cx="2377440" cy="566928"/>
          </a:xfrm>
          <a:prstGeom prst="rect">
            <a:avLst/>
          </a:prstGeom>
          <a:solidFill>
            <a:srgbClr val="10386A"/>
          </a:solidFill>
          <a:ln w="12700">
            <a:solidFill>
              <a:srgbClr val="1C9FB4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383280" y="234086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DEALERSHIP GROUP</a:t>
            </a:r>
            <a:endParaRPr lang="en-US" sz="1150"/>
          </a:p>
        </p:txBody>
      </p:sp>
      <p:sp>
        <p:nvSpPr>
          <p:cNvPr id="48" name="Text 46"/>
          <p:cNvSpPr/>
          <p:nvPr/>
        </p:nvSpPr>
        <p:spPr>
          <a:xfrm>
            <a:off x="3383280" y="25877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>
                <a:solidFill>
                  <a:srgbClr val="3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</a:t>
            </a:r>
            <a:endParaRPr lang="en-US" sz="1050"/>
          </a:p>
        </p:txBody>
      </p:sp>
      <p:sp>
        <p:nvSpPr>
          <p:cNvPr id="49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72200" y="2286000"/>
            <a:ext cx="2377440" cy="566928"/>
          </a:xfrm>
          <a:prstGeom prst="rect">
            <a:avLst/>
          </a:prstGeom>
          <a:solidFill>
            <a:srgbClr val="10386A"/>
          </a:solidFill>
          <a:ln w="12700">
            <a:solidFill>
              <a:srgbClr val="1C9FB4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172200" y="234086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PARTS &amp; LOGISTICS</a:t>
            </a:r>
            <a:endParaRPr lang="en-US" sz="1150"/>
          </a:p>
        </p:txBody>
      </p:sp>
      <p:sp>
        <p:nvSpPr>
          <p:cNvPr id="51" name="Text 49"/>
          <p:cNvSpPr/>
          <p:nvPr/>
        </p:nvSpPr>
        <p:spPr>
          <a:xfrm>
            <a:off x="6172200" y="25877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>
                <a:solidFill>
                  <a:srgbClr val="3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Mexico / South Korea</a:t>
            </a:r>
            <a:endParaRPr lang="en-US" sz="1050"/>
          </a:p>
        </p:txBody>
      </p:sp>
      <p:sp>
        <p:nvSpPr>
          <p:cNvPr id="52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83080" y="2852928"/>
            <a:ext cx="0" cy="164592"/>
          </a:xfrm>
          <a:prstGeom prst="line">
            <a:avLst/>
          </a:prstGeom>
          <a:noFill/>
          <a:ln w="15875">
            <a:solidFill>
              <a:srgbClr val="1C9F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69848" y="3017520"/>
            <a:ext cx="1426464" cy="0"/>
          </a:xfrm>
          <a:prstGeom prst="line">
            <a:avLst/>
          </a:prstGeom>
          <a:noFill/>
          <a:ln w="15875">
            <a:solidFill>
              <a:srgbClr val="1C9F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69848" y="3017520"/>
            <a:ext cx="0" cy="502920"/>
          </a:xfrm>
          <a:prstGeom prst="line">
            <a:avLst/>
          </a:prstGeom>
          <a:noFill/>
          <a:ln w="15875">
            <a:solidFill>
              <a:srgbClr val="1C9F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96312" y="3017520"/>
            <a:ext cx="0" cy="502920"/>
          </a:xfrm>
          <a:prstGeom prst="line">
            <a:avLst/>
          </a:prstGeom>
          <a:noFill/>
          <a:ln w="15875">
            <a:solidFill>
              <a:srgbClr val="1C9F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0624" y="3520440"/>
            <a:ext cx="1298448" cy="868680"/>
          </a:xfrm>
          <a:prstGeom prst="rect">
            <a:avLst/>
          </a:prstGeom>
          <a:solidFill>
            <a:srgbClr val="0F2F52"/>
          </a:solidFill>
          <a:ln w="12700">
            <a:solidFill>
              <a:srgbClr val="1C9FB4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20624" y="3611880"/>
            <a:ext cx="1298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200">
                <a:solidFill>
                  <a:srgbClr val="8AA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</a:t>
            </a:r>
            <a:endParaRPr lang="en-US" sz="750"/>
          </a:p>
        </p:txBody>
      </p:sp>
      <p:sp>
        <p:nvSpPr>
          <p:cNvPr id="58" name="Text 56"/>
          <p:cNvSpPr/>
          <p:nvPr/>
        </p:nvSpPr>
        <p:spPr>
          <a:xfrm>
            <a:off x="420624" y="379476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>
                <a:solidFill>
                  <a:srgbClr val="D6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Production</a:t>
            </a:r>
            <a:endParaRPr lang="en-US" sz="1100"/>
          </a:p>
        </p:txBody>
      </p:sp>
      <p:sp>
        <p:nvSpPr>
          <p:cNvPr id="59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47088" y="3520440"/>
            <a:ext cx="1298448" cy="868680"/>
          </a:xfrm>
          <a:prstGeom prst="rect">
            <a:avLst/>
          </a:prstGeom>
          <a:solidFill>
            <a:srgbClr val="0F2F52"/>
          </a:solidFill>
          <a:ln w="12700">
            <a:solidFill>
              <a:srgbClr val="1C9FB4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1847088" y="3611880"/>
            <a:ext cx="1298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200">
                <a:solidFill>
                  <a:srgbClr val="8AA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</a:t>
            </a:r>
            <a:endParaRPr lang="en-US" sz="750"/>
          </a:p>
        </p:txBody>
      </p:sp>
      <p:sp>
        <p:nvSpPr>
          <p:cNvPr id="61" name="Text 59"/>
          <p:cNvSpPr/>
          <p:nvPr/>
        </p:nvSpPr>
        <p:spPr>
          <a:xfrm>
            <a:off x="1847088" y="379476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>
                <a:solidFill>
                  <a:srgbClr val="D6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Quality</a:t>
            </a:r>
            <a:endParaRPr lang="en-US" sz="110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100" b="1">
                <a:solidFill>
                  <a:srgbClr val="D6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Assurance</a:t>
            </a:r>
            <a:endParaRPr lang="en-US" sz="1100"/>
          </a:p>
        </p:txBody>
      </p:sp>
      <p:sp>
        <p:nvSpPr>
          <p:cNvPr id="62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2852928"/>
            <a:ext cx="0" cy="164592"/>
          </a:xfrm>
          <a:prstGeom prst="line">
            <a:avLst/>
          </a:prstGeom>
          <a:noFill/>
          <a:ln w="15875">
            <a:solidFill>
              <a:srgbClr val="1C9F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58768" y="3017520"/>
            <a:ext cx="1426464" cy="0"/>
          </a:xfrm>
          <a:prstGeom prst="line">
            <a:avLst/>
          </a:prstGeom>
          <a:noFill/>
          <a:ln w="15875">
            <a:solidFill>
              <a:srgbClr val="1C9F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58768" y="3017520"/>
            <a:ext cx="0" cy="502920"/>
          </a:xfrm>
          <a:prstGeom prst="line">
            <a:avLst/>
          </a:prstGeom>
          <a:noFill/>
          <a:ln w="15875">
            <a:solidFill>
              <a:srgbClr val="1C9F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85232" y="3017520"/>
            <a:ext cx="0" cy="502920"/>
          </a:xfrm>
          <a:prstGeom prst="line">
            <a:avLst/>
          </a:prstGeom>
          <a:noFill/>
          <a:ln w="15875">
            <a:solidFill>
              <a:srgbClr val="1C9F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09544" y="3520440"/>
            <a:ext cx="1298448" cy="868680"/>
          </a:xfrm>
          <a:prstGeom prst="rect">
            <a:avLst/>
          </a:prstGeom>
          <a:solidFill>
            <a:srgbClr val="0F2F52"/>
          </a:solidFill>
          <a:ln w="12700">
            <a:solidFill>
              <a:srgbClr val="1C9FB4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3209544" y="3611880"/>
            <a:ext cx="1298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200">
                <a:solidFill>
                  <a:srgbClr val="8AA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</a:t>
            </a:r>
            <a:endParaRPr lang="en-US" sz="750"/>
          </a:p>
        </p:txBody>
      </p:sp>
      <p:sp>
        <p:nvSpPr>
          <p:cNvPr id="68" name="Text 66"/>
          <p:cNvSpPr/>
          <p:nvPr/>
        </p:nvSpPr>
        <p:spPr>
          <a:xfrm>
            <a:off x="3209544" y="379476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>
                <a:solidFill>
                  <a:srgbClr val="D6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</a:t>
            </a:r>
            <a:endParaRPr lang="en-US" sz="1100"/>
          </a:p>
        </p:txBody>
      </p:sp>
      <p:sp>
        <p:nvSpPr>
          <p:cNvPr id="69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36008" y="3520440"/>
            <a:ext cx="1298448" cy="868680"/>
          </a:xfrm>
          <a:prstGeom prst="rect">
            <a:avLst/>
          </a:prstGeom>
          <a:solidFill>
            <a:srgbClr val="0F2F52"/>
          </a:solidFill>
          <a:ln w="12700">
            <a:solidFill>
              <a:srgbClr val="1C9FB4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4636008" y="3611880"/>
            <a:ext cx="1298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200">
                <a:solidFill>
                  <a:srgbClr val="8AA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</a:t>
            </a:r>
            <a:endParaRPr lang="en-US" sz="750"/>
          </a:p>
        </p:txBody>
      </p:sp>
      <p:sp>
        <p:nvSpPr>
          <p:cNvPr id="71" name="Text 69"/>
          <p:cNvSpPr/>
          <p:nvPr/>
        </p:nvSpPr>
        <p:spPr>
          <a:xfrm>
            <a:off x="4636008" y="379476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>
                <a:solidFill>
                  <a:srgbClr val="D6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</a:t>
            </a:r>
            <a:endParaRPr lang="en-US" sz="110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100" b="1">
                <a:solidFill>
                  <a:srgbClr val="D6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Center</a:t>
            </a:r>
            <a:endParaRPr lang="en-US" sz="1100"/>
          </a:p>
        </p:txBody>
      </p:sp>
      <p:sp>
        <p:nvSpPr>
          <p:cNvPr id="72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60920" y="2852928"/>
            <a:ext cx="0" cy="164592"/>
          </a:xfrm>
          <a:prstGeom prst="line">
            <a:avLst/>
          </a:prstGeom>
          <a:noFill/>
          <a:ln w="15875">
            <a:solidFill>
              <a:srgbClr val="1C9F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47688" y="3017520"/>
            <a:ext cx="1426464" cy="0"/>
          </a:xfrm>
          <a:prstGeom prst="line">
            <a:avLst/>
          </a:prstGeom>
          <a:noFill/>
          <a:ln w="15875">
            <a:solidFill>
              <a:srgbClr val="1C9F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47688" y="3017520"/>
            <a:ext cx="0" cy="502920"/>
          </a:xfrm>
          <a:prstGeom prst="line">
            <a:avLst/>
          </a:prstGeom>
          <a:noFill/>
          <a:ln w="15875">
            <a:solidFill>
              <a:srgbClr val="1C9F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74152" y="3017520"/>
            <a:ext cx="0" cy="502920"/>
          </a:xfrm>
          <a:prstGeom prst="line">
            <a:avLst/>
          </a:prstGeom>
          <a:noFill/>
          <a:ln w="15875">
            <a:solidFill>
              <a:srgbClr val="1C9F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98464" y="3520440"/>
            <a:ext cx="1298448" cy="868680"/>
          </a:xfrm>
          <a:prstGeom prst="rect">
            <a:avLst/>
          </a:prstGeom>
          <a:solidFill>
            <a:srgbClr val="0F2F52"/>
          </a:solidFill>
          <a:ln w="12700">
            <a:solidFill>
              <a:srgbClr val="1C9FB4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5998464" y="3611880"/>
            <a:ext cx="1298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200">
                <a:solidFill>
                  <a:srgbClr val="8AA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</a:t>
            </a:r>
            <a:endParaRPr lang="en-US" sz="750"/>
          </a:p>
        </p:txBody>
      </p:sp>
      <p:sp>
        <p:nvSpPr>
          <p:cNvPr id="78" name="Text 76"/>
          <p:cNvSpPr/>
          <p:nvPr/>
        </p:nvSpPr>
        <p:spPr>
          <a:xfrm>
            <a:off x="5998464" y="379476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>
                <a:solidFill>
                  <a:srgbClr val="D6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Warehousing</a:t>
            </a:r>
            <a:endParaRPr lang="en-US" sz="1100"/>
          </a:p>
        </p:txBody>
      </p:sp>
      <p:sp>
        <p:nvSpPr>
          <p:cNvPr id="79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24928" y="3520440"/>
            <a:ext cx="1298448" cy="868680"/>
          </a:xfrm>
          <a:prstGeom prst="rect">
            <a:avLst/>
          </a:prstGeom>
          <a:solidFill>
            <a:srgbClr val="0F2F52"/>
          </a:solidFill>
          <a:ln w="12700">
            <a:solidFill>
              <a:srgbClr val="1C9FB4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7424928" y="3611880"/>
            <a:ext cx="1298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200">
                <a:solidFill>
                  <a:srgbClr val="8AA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</a:t>
            </a:r>
            <a:endParaRPr lang="en-US" sz="750"/>
          </a:p>
        </p:txBody>
      </p:sp>
      <p:sp>
        <p:nvSpPr>
          <p:cNvPr id="81" name="Text 79"/>
          <p:cNvSpPr/>
          <p:nvPr/>
        </p:nvSpPr>
        <p:spPr>
          <a:xfrm>
            <a:off x="7424928" y="379476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>
                <a:solidFill>
                  <a:srgbClr val="D6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Logistics /</a:t>
            </a:r>
            <a:endParaRPr lang="en-US" sz="110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100" b="1">
                <a:solidFill>
                  <a:srgbClr val="D6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Shipping</a:t>
            </a:r>
            <a:endParaRPr lang="en-US" sz="1100"/>
          </a:p>
        </p:txBody>
      </p:sp>
      <p:sp>
        <p:nvSpPr>
          <p:cNvPr id="82" name="Text 80"/>
          <p:cNvSpPr/>
          <p:nvPr/>
        </p:nvSpPr>
        <p:spPr>
          <a:xfrm>
            <a:off x="548640" y="45902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3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</a:t>
            </a:r>
            <a:r>
              <a:rPr lang="en-US" sz="1000" kern="0" spc="100">
                <a:solidFill>
                  <a:srgbClr val="8AA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</a:t>
            </a:r>
            <a:endParaRPr lang="en-US" sz="1500"/>
          </a:p>
        </p:txBody>
      </p:sp>
      <p:sp>
        <p:nvSpPr>
          <p:cNvPr id="83" name="Text 81"/>
          <p:cNvSpPr/>
          <p:nvPr/>
        </p:nvSpPr>
        <p:spPr>
          <a:xfrm>
            <a:off x="2688336" y="45902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3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</a:t>
            </a:r>
            <a:r>
              <a:rPr lang="en-US" sz="1000" kern="0" spc="100">
                <a:solidFill>
                  <a:srgbClr val="8AA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ENTERPRISES</a:t>
            </a:r>
            <a:endParaRPr lang="en-US" sz="1500"/>
          </a:p>
        </p:txBody>
      </p:sp>
      <p:sp>
        <p:nvSpPr>
          <p:cNvPr id="84" name="Text 82"/>
          <p:cNvSpPr/>
          <p:nvPr/>
        </p:nvSpPr>
        <p:spPr>
          <a:xfrm>
            <a:off x="4828032" y="45902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3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 </a:t>
            </a:r>
            <a:r>
              <a:rPr lang="en-US" sz="1000" kern="0" spc="100">
                <a:solidFill>
                  <a:srgbClr val="8AA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ORGANIZATIONS</a:t>
            </a:r>
            <a:endParaRPr lang="en-US" sz="1500"/>
          </a:p>
        </p:txBody>
      </p:sp>
      <p:sp>
        <p:nvSpPr>
          <p:cNvPr id="85" name="Text 83"/>
          <p:cNvSpPr/>
          <p:nvPr/>
        </p:nvSpPr>
        <p:spPr>
          <a:xfrm>
            <a:off x="6967728" y="45902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3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 </a:t>
            </a:r>
            <a:r>
              <a:rPr lang="en-US" sz="1000" kern="0" spc="100">
                <a:solidFill>
                  <a:srgbClr val="8AA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ROLES</a:t>
            </a:r>
            <a:endParaRPr lang="en-US"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eet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6032" y="256032"/>
            <a:ext cx="8631936" cy="4631436"/>
          </a:xfrm>
          <a:prstGeom prst="rect">
            <a:avLst/>
          </a:prstGeom>
          <a:ln w="12700">
            <a:solidFill>
              <a:srgbClr val="1C9F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2920" y="3657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>
                <a:solidFill>
                  <a:srgbClr val="3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NETWORK  ·  3 ENTERPRISES</a:t>
            </a:r>
            <a:endParaRPr lang="en-US" sz="1100"/>
          </a:p>
        </p:txBody>
      </p:sp>
      <p:sp>
        <p:nvSpPr>
          <p:cNvPr id="3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60350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2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Separate legal entities across national boundaries</a:t>
            </a:r>
            <a:endParaRPr lang="en-US" sz="2200"/>
          </a:p>
        </p:txBody>
      </p:sp>
      <p:sp>
        <p:nvSpPr>
          <p:cNvPr id="35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81328"/>
            <a:ext cx="2670048" cy="3200400"/>
          </a:xfrm>
          <a:prstGeom prst="rect">
            <a:avLst/>
          </a:prstGeom>
          <a:solidFill>
            <a:srgbClr val="10386A"/>
          </a:solidFill>
          <a:ln w="12700">
            <a:solidFill>
              <a:srgbClr val="1C9FB4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81328"/>
            <a:ext cx="128016" cy="0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81328"/>
            <a:ext cx="0" cy="128016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4952" y="4681728"/>
            <a:ext cx="128016" cy="0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72968" y="4553712"/>
            <a:ext cx="0" cy="128016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ag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4088" y="1700784"/>
            <a:ext cx="1051560" cy="384048"/>
          </a:xfrm>
          <a:prstGeom prst="rect">
            <a:avLst/>
          </a:prstGeom>
          <a:solidFill>
            <a:srgbClr val="37D2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04088" y="1700784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C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</a:t>
            </a:r>
            <a:endParaRPr lang="en-US" sz="1300"/>
          </a:p>
        </p:txBody>
      </p:sp>
      <p:sp>
        <p:nvSpPr>
          <p:cNvPr id="42" name="Text 40"/>
          <p:cNvSpPr/>
          <p:nvPr/>
        </p:nvSpPr>
        <p:spPr>
          <a:xfrm>
            <a:off x="704088" y="2231136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45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MANUFACTURER</a:t>
            </a:r>
            <a:endParaRPr lang="en-US" sz="1450"/>
          </a:p>
        </p:txBody>
      </p:sp>
      <p:sp>
        <p:nvSpPr>
          <p:cNvPr id="43" name="Text 41"/>
          <p:cNvSpPr/>
          <p:nvPr/>
        </p:nvSpPr>
        <p:spPr>
          <a:xfrm>
            <a:off x="704088" y="2798064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>
                <a:solidFill>
                  <a:srgbClr val="3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 · HQ</a:t>
            </a:r>
            <a:endParaRPr lang="en-US" sz="1200"/>
          </a:p>
        </p:txBody>
      </p:sp>
      <p:sp>
        <p:nvSpPr>
          <p:cNvPr id="44" name="Text 42"/>
          <p:cNvSpPr/>
          <p:nvPr/>
        </p:nvSpPr>
        <p:spPr>
          <a:xfrm>
            <a:off x="704088" y="3127248"/>
            <a:ext cx="22677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>
                <a:solidFill>
                  <a:srgbClr val="D6E6F5"/>
                </a:solidFill>
                <a:latin typeface="Calibri"/>
                <a:ea typeface="Calibri"/>
                <a:cs typeface="Calibri"/>
              </a:rPr>
              <a:t>Designs and builds vehicles, issues the VIN</a:t>
            </a:r>
          </a:p>
        </p:txBody>
      </p:sp>
      <p:sp>
        <p:nvSpPr>
          <p:cNvPr id="45" name="Text 43"/>
          <p:cNvSpPr/>
          <p:nvPr/>
        </p:nvSpPr>
        <p:spPr>
          <a:xfrm>
            <a:off x="704088" y="3968496"/>
            <a:ext cx="2267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850" b="1" kern="0" spc="150">
                <a:solidFill>
                  <a:srgbClr val="8AA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ORGANIZATIONS
</a:t>
            </a:r>
            <a:r>
              <a:rPr lang="en-US" sz="1150" b="1">
                <a:solidFill>
                  <a:srgbClr val="D6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Production  ·  Quality Assurance</a:t>
            </a:r>
            <a:endParaRPr lang="en-US" sz="850"/>
          </a:p>
        </p:txBody>
      </p:sp>
      <p:sp>
        <p:nvSpPr>
          <p:cNvPr id="46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38144" y="1481328"/>
            <a:ext cx="2670048" cy="3200400"/>
          </a:xfrm>
          <a:prstGeom prst="rect">
            <a:avLst/>
          </a:prstGeom>
          <a:solidFill>
            <a:srgbClr val="10386A"/>
          </a:solidFill>
          <a:ln w="12700">
            <a:solidFill>
              <a:srgbClr val="1C9FB4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38144" y="1481328"/>
            <a:ext cx="128016" cy="0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38144" y="1481328"/>
            <a:ext cx="0" cy="128016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80176" y="4681728"/>
            <a:ext cx="128016" cy="0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08192" y="4553712"/>
            <a:ext cx="0" cy="128016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ag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39312" y="1700784"/>
            <a:ext cx="1051560" cy="384048"/>
          </a:xfrm>
          <a:prstGeom prst="rect">
            <a:avLst/>
          </a:prstGeom>
          <a:solidFill>
            <a:srgbClr val="37D2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639312" y="1700784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C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</a:t>
            </a:r>
            <a:endParaRPr lang="en-US" sz="1300"/>
          </a:p>
        </p:txBody>
      </p:sp>
      <p:sp>
        <p:nvSpPr>
          <p:cNvPr id="53" name="Text 51"/>
          <p:cNvSpPr/>
          <p:nvPr/>
        </p:nvSpPr>
        <p:spPr>
          <a:xfrm>
            <a:off x="3639312" y="2231136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45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DEALERSHIP GROUP</a:t>
            </a:r>
            <a:endParaRPr lang="en-US" sz="1450"/>
          </a:p>
        </p:txBody>
      </p:sp>
      <p:sp>
        <p:nvSpPr>
          <p:cNvPr id="54" name="Text 52"/>
          <p:cNvSpPr/>
          <p:nvPr/>
        </p:nvSpPr>
        <p:spPr>
          <a:xfrm>
            <a:off x="3639312" y="2798064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>
                <a:solidFill>
                  <a:srgbClr val="3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</a:t>
            </a:r>
            <a:endParaRPr lang="en-US" sz="1200"/>
          </a:p>
        </p:txBody>
      </p:sp>
      <p:sp>
        <p:nvSpPr>
          <p:cNvPr id="55" name="Text 53"/>
          <p:cNvSpPr/>
          <p:nvPr/>
        </p:nvSpPr>
        <p:spPr>
          <a:xfrm>
            <a:off x="3639312" y="3127248"/>
            <a:ext cx="22677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Sells and services vehicles and owns the end-customer relationship.</a:t>
            </a:r>
            <a:endParaRPr lang="en-US" sz="1250"/>
          </a:p>
        </p:txBody>
      </p:sp>
      <p:sp>
        <p:nvSpPr>
          <p:cNvPr id="56" name="Text 54"/>
          <p:cNvSpPr/>
          <p:nvPr/>
        </p:nvSpPr>
        <p:spPr>
          <a:xfrm>
            <a:off x="3639312" y="3968496"/>
            <a:ext cx="2267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850" b="1" kern="0" spc="150">
                <a:solidFill>
                  <a:srgbClr val="8AA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ORGANIZATIONS
</a:t>
            </a:r>
            <a:r>
              <a:rPr lang="en-US" sz="1150" b="1">
                <a:solidFill>
                  <a:srgbClr val="D6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  ·  Service Center</a:t>
            </a:r>
            <a:endParaRPr lang="en-US" sz="850"/>
          </a:p>
        </p:txBody>
      </p:sp>
      <p:sp>
        <p:nvSpPr>
          <p:cNvPr id="57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73368" y="1481328"/>
            <a:ext cx="2670048" cy="3200400"/>
          </a:xfrm>
          <a:prstGeom prst="rect">
            <a:avLst/>
          </a:prstGeom>
          <a:solidFill>
            <a:srgbClr val="10386A"/>
          </a:solidFill>
          <a:ln w="12700">
            <a:solidFill>
              <a:srgbClr val="1C9FB4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73368" y="1481328"/>
            <a:ext cx="128016" cy="0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73368" y="1481328"/>
            <a:ext cx="0" cy="128016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15400" y="4681728"/>
            <a:ext cx="128016" cy="0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43416" y="4553712"/>
            <a:ext cx="0" cy="128016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ag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74536" y="1700784"/>
            <a:ext cx="1051560" cy="384048"/>
          </a:xfrm>
          <a:prstGeom prst="rect">
            <a:avLst/>
          </a:prstGeom>
          <a:solidFill>
            <a:srgbClr val="37D2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574536" y="1700784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C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MX / KR</a:t>
            </a:r>
            <a:endParaRPr lang="en-US" sz="1300"/>
          </a:p>
        </p:txBody>
      </p:sp>
      <p:sp>
        <p:nvSpPr>
          <p:cNvPr id="64" name="Text 62"/>
          <p:cNvSpPr/>
          <p:nvPr/>
        </p:nvSpPr>
        <p:spPr>
          <a:xfrm>
            <a:off x="6574536" y="2231136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45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PARTS &amp; LOGISTICS SUPPLIER</a:t>
            </a:r>
            <a:endParaRPr lang="en-US" sz="1450"/>
          </a:p>
        </p:txBody>
      </p:sp>
      <p:sp>
        <p:nvSpPr>
          <p:cNvPr id="65" name="Text 63"/>
          <p:cNvSpPr/>
          <p:nvPr/>
        </p:nvSpPr>
        <p:spPr>
          <a:xfrm>
            <a:off x="6574536" y="2798064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>
                <a:solidFill>
                  <a:srgbClr val="3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Mexico / South Korea</a:t>
            </a:r>
            <a:endParaRPr lang="en-US" sz="1200"/>
          </a:p>
        </p:txBody>
      </p:sp>
      <p:sp>
        <p:nvSpPr>
          <p:cNvPr id="66" name="Text 64"/>
          <p:cNvSpPr/>
          <p:nvPr/>
        </p:nvSpPr>
        <p:spPr>
          <a:xfrm>
            <a:off x="6574536" y="3127248"/>
            <a:ext cx="22677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Supplies parts and runs cross-border warehousing and shipping.</a:t>
            </a:r>
            <a:endParaRPr lang="en-US" sz="1250"/>
          </a:p>
        </p:txBody>
      </p:sp>
      <p:sp>
        <p:nvSpPr>
          <p:cNvPr id="67" name="Text 65"/>
          <p:cNvSpPr/>
          <p:nvPr/>
        </p:nvSpPr>
        <p:spPr>
          <a:xfrm>
            <a:off x="6574536" y="3968496"/>
            <a:ext cx="2267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850" b="1" kern="0" spc="150">
                <a:solidFill>
                  <a:srgbClr val="8AA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ORGANIZATIONS
</a:t>
            </a:r>
            <a:r>
              <a:rPr lang="en-US" sz="1150" b="1">
                <a:solidFill>
                  <a:srgbClr val="D6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Warehousing  ·  Logistics / Shipping</a:t>
            </a:r>
            <a:endParaRPr lang="en-US" sz="8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eet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6032" y="256032"/>
            <a:ext cx="8631936" cy="4631436"/>
          </a:xfrm>
          <a:prstGeom prst="rect">
            <a:avLst/>
          </a:prstGeom>
          <a:ln w="12700">
            <a:solidFill>
              <a:srgbClr val="1C9F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60350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2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the work — and the data — actually happens</a:t>
            </a:r>
            <a:endParaRPr lang="en-US" sz="2200"/>
          </a:p>
        </p:txBody>
      </p:sp>
      <p:sp>
        <p:nvSpPr>
          <p:cNvPr id="35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17320"/>
            <a:ext cx="2670048" cy="1481328"/>
          </a:xfrm>
          <a:prstGeom prst="rect">
            <a:avLst/>
          </a:prstGeom>
          <a:solidFill>
            <a:srgbClr val="10386A"/>
          </a:solidFill>
          <a:ln w="12700">
            <a:solidFill>
              <a:srgbClr val="1C9FB4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85800" y="1563624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20">
                <a:solidFill>
                  <a:srgbClr val="3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MANUFACTURER</a:t>
            </a:r>
            <a:endParaRPr lang="en-US" sz="850"/>
          </a:p>
        </p:txBody>
      </p:sp>
      <p:sp>
        <p:nvSpPr>
          <p:cNvPr id="37" name="Text 35"/>
          <p:cNvSpPr/>
          <p:nvPr/>
        </p:nvSpPr>
        <p:spPr>
          <a:xfrm>
            <a:off x="685800" y="1764792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Production</a:t>
            </a:r>
            <a:endParaRPr lang="en-US" sz="1500"/>
          </a:p>
        </p:txBody>
      </p:sp>
      <p:sp>
        <p:nvSpPr>
          <p:cNvPr id="38" name="Text 36"/>
          <p:cNvSpPr/>
          <p:nvPr/>
        </p:nvSpPr>
        <p:spPr>
          <a:xfrm>
            <a:off x="685800" y="2148840"/>
            <a:ext cx="2304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vehicles and records the build event and VIN issuance.</a:t>
            </a:r>
            <a:endParaRPr lang="en-US" sz="1150"/>
          </a:p>
        </p:txBody>
      </p:sp>
      <p:sp>
        <p:nvSpPr>
          <p:cNvPr id="39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38144" y="1417320"/>
            <a:ext cx="2670048" cy="1481328"/>
          </a:xfrm>
          <a:prstGeom prst="rect">
            <a:avLst/>
          </a:prstGeom>
          <a:solidFill>
            <a:srgbClr val="10386A"/>
          </a:solidFill>
          <a:ln w="12700">
            <a:solidFill>
              <a:srgbClr val="1C9FB4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621024" y="1563624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20">
                <a:solidFill>
                  <a:srgbClr val="3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MANUFACTURER</a:t>
            </a:r>
            <a:endParaRPr lang="en-US" sz="850"/>
          </a:p>
        </p:txBody>
      </p:sp>
      <p:sp>
        <p:nvSpPr>
          <p:cNvPr id="41" name="Text 39"/>
          <p:cNvSpPr/>
          <p:nvPr/>
        </p:nvSpPr>
        <p:spPr>
          <a:xfrm>
            <a:off x="3621024" y="1764792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Quality Assurance</a:t>
            </a:r>
            <a:endParaRPr lang="en-US" sz="1500"/>
          </a:p>
        </p:txBody>
      </p:sp>
      <p:sp>
        <p:nvSpPr>
          <p:cNvPr id="42" name="Text 40"/>
          <p:cNvSpPr/>
          <p:nvPr/>
        </p:nvSpPr>
        <p:spPr>
          <a:xfrm>
            <a:off x="3621024" y="2148840"/>
            <a:ext cx="2304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Inspects, releases, and ships  completed builds.</a:t>
            </a:r>
            <a:endParaRPr lang="en-US" sz="1150"/>
          </a:p>
        </p:txBody>
      </p:sp>
      <p:sp>
        <p:nvSpPr>
          <p:cNvPr id="43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73368" y="1417320"/>
            <a:ext cx="2670048" cy="1481328"/>
          </a:xfrm>
          <a:prstGeom prst="rect">
            <a:avLst/>
          </a:prstGeom>
          <a:solidFill>
            <a:srgbClr val="10386A"/>
          </a:solidFill>
          <a:ln w="12700">
            <a:solidFill>
              <a:srgbClr val="1C9FB4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556248" y="1563624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20">
                <a:solidFill>
                  <a:srgbClr val="3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DEALERSHIP GROUP</a:t>
            </a:r>
            <a:endParaRPr lang="en-US" sz="850"/>
          </a:p>
        </p:txBody>
      </p:sp>
      <p:sp>
        <p:nvSpPr>
          <p:cNvPr id="45" name="Text 43"/>
          <p:cNvSpPr/>
          <p:nvPr/>
        </p:nvSpPr>
        <p:spPr>
          <a:xfrm>
            <a:off x="6556248" y="1764792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</a:t>
            </a:r>
            <a:endParaRPr lang="en-US" sz="1500"/>
          </a:p>
        </p:txBody>
      </p:sp>
      <p:sp>
        <p:nvSpPr>
          <p:cNvPr id="46" name="Text 44"/>
          <p:cNvSpPr/>
          <p:nvPr/>
        </p:nvSpPr>
        <p:spPr>
          <a:xfrm>
            <a:off x="6556248" y="2148840"/>
            <a:ext cx="2304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sales records and handles registration and handover.</a:t>
            </a:r>
            <a:endParaRPr lang="en-US" sz="1150"/>
          </a:p>
        </p:txBody>
      </p:sp>
      <p:sp>
        <p:nvSpPr>
          <p:cNvPr id="47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118104"/>
            <a:ext cx="2670048" cy="1481328"/>
          </a:xfrm>
          <a:prstGeom prst="rect">
            <a:avLst/>
          </a:prstGeom>
          <a:solidFill>
            <a:srgbClr val="10386A"/>
          </a:solidFill>
          <a:ln w="12700">
            <a:solidFill>
              <a:srgbClr val="1C9FB4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85800" y="3264408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20">
                <a:solidFill>
                  <a:srgbClr val="3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DEALERSHIP GROUP</a:t>
            </a:r>
            <a:endParaRPr lang="en-US" sz="850"/>
          </a:p>
        </p:txBody>
      </p:sp>
      <p:sp>
        <p:nvSpPr>
          <p:cNvPr id="49" name="Text 47"/>
          <p:cNvSpPr/>
          <p:nvPr/>
        </p:nvSpPr>
        <p:spPr>
          <a:xfrm>
            <a:off x="685800" y="3465576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Center</a:t>
            </a:r>
            <a:endParaRPr lang="en-US" sz="1500"/>
          </a:p>
        </p:txBody>
      </p:sp>
      <p:sp>
        <p:nvSpPr>
          <p:cNvPr id="50" name="Text 48"/>
          <p:cNvSpPr/>
          <p:nvPr/>
        </p:nvSpPr>
        <p:spPr>
          <a:xfrm>
            <a:off x="685800" y="3849624"/>
            <a:ext cx="2304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work orders and maintains the service history.</a:t>
            </a:r>
            <a:endParaRPr lang="en-US" sz="1150"/>
          </a:p>
        </p:txBody>
      </p:sp>
      <p:sp>
        <p:nvSpPr>
          <p:cNvPr id="51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38144" y="3118104"/>
            <a:ext cx="2670048" cy="1481328"/>
          </a:xfrm>
          <a:prstGeom prst="rect">
            <a:avLst/>
          </a:prstGeom>
          <a:solidFill>
            <a:srgbClr val="10386A"/>
          </a:solidFill>
          <a:ln w="12700">
            <a:solidFill>
              <a:srgbClr val="1C9FB4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621024" y="3264408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20">
                <a:solidFill>
                  <a:srgbClr val="3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PARTS SUPPLIER</a:t>
            </a:r>
            <a:endParaRPr lang="en-US" sz="850"/>
          </a:p>
        </p:txBody>
      </p:sp>
      <p:sp>
        <p:nvSpPr>
          <p:cNvPr id="53" name="Text 51"/>
          <p:cNvSpPr/>
          <p:nvPr/>
        </p:nvSpPr>
        <p:spPr>
          <a:xfrm>
            <a:off x="3621024" y="3465576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Warehousing</a:t>
            </a:r>
            <a:endParaRPr lang="en-US" sz="1500"/>
          </a:p>
        </p:txBody>
      </p:sp>
      <p:sp>
        <p:nvSpPr>
          <p:cNvPr id="54" name="Text 52"/>
          <p:cNvSpPr/>
          <p:nvPr/>
        </p:nvSpPr>
        <p:spPr>
          <a:xfrm>
            <a:off x="3621024" y="3849624"/>
            <a:ext cx="2304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Receives, stocks, and picks parts against the vehicle BOM.</a:t>
            </a:r>
            <a:endParaRPr lang="en-US" sz="1150"/>
          </a:p>
        </p:txBody>
      </p:sp>
      <p:sp>
        <p:nvSpPr>
          <p:cNvPr id="55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73368" y="3118104"/>
            <a:ext cx="2670048" cy="1481328"/>
          </a:xfrm>
          <a:prstGeom prst="rect">
            <a:avLst/>
          </a:prstGeom>
          <a:solidFill>
            <a:srgbClr val="10386A"/>
          </a:solidFill>
          <a:ln w="12700">
            <a:solidFill>
              <a:srgbClr val="1C9FB4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556248" y="3264408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20">
                <a:solidFill>
                  <a:srgbClr val="3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PARTS SUPPLIER</a:t>
            </a:r>
            <a:endParaRPr lang="en-US" sz="850"/>
          </a:p>
        </p:txBody>
      </p:sp>
      <p:sp>
        <p:nvSpPr>
          <p:cNvPr id="57" name="Text 55"/>
          <p:cNvSpPr/>
          <p:nvPr/>
        </p:nvSpPr>
        <p:spPr>
          <a:xfrm>
            <a:off x="6556248" y="3465576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Logistics / Shipping</a:t>
            </a:r>
            <a:endParaRPr lang="en-US" sz="1500"/>
          </a:p>
        </p:txBody>
      </p:sp>
      <p:sp>
        <p:nvSpPr>
          <p:cNvPr id="58" name="Text 56"/>
          <p:cNvSpPr/>
          <p:nvPr/>
        </p:nvSpPr>
        <p:spPr>
          <a:xfrm>
            <a:off x="6556248" y="3849624"/>
            <a:ext cx="2304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Dispatches and tracks cross-border shipments.</a:t>
            </a:r>
            <a:endParaRPr lang="en-US" sz="11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eet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6032" y="256032"/>
            <a:ext cx="8631936" cy="4631436"/>
          </a:xfrm>
          <a:prstGeom prst="rect">
            <a:avLst/>
          </a:prstGeom>
          <a:ln w="12700">
            <a:solidFill>
              <a:srgbClr val="1C9F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60350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2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actors who drive every use case</a:t>
            </a:r>
            <a:endParaRPr lang="en-US" sz="2200"/>
          </a:p>
        </p:txBody>
      </p:sp>
      <p:sp>
        <p:nvSpPr>
          <p:cNvPr id="35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81328"/>
            <a:ext cx="1975104" cy="1371600"/>
          </a:xfrm>
          <a:prstGeom prst="rect">
            <a:avLst/>
          </a:prstGeom>
          <a:solidFill>
            <a:srgbClr val="10386A"/>
          </a:solidFill>
          <a:ln w="12700">
            <a:solidFill>
              <a:srgbClr val="1C9FB4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49224" y="1609344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3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/>
          </a:p>
        </p:txBody>
      </p:sp>
      <p:sp>
        <p:nvSpPr>
          <p:cNvPr id="37" name="Text 35"/>
          <p:cNvSpPr/>
          <p:nvPr/>
        </p:nvSpPr>
        <p:spPr>
          <a:xfrm>
            <a:off x="649224" y="1956816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5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Production Manager</a:t>
            </a:r>
            <a:endParaRPr lang="en-US" sz="1250"/>
          </a:p>
        </p:txBody>
      </p:sp>
      <p:sp>
        <p:nvSpPr>
          <p:cNvPr id="38" name="Text 36"/>
          <p:cNvSpPr/>
          <p:nvPr/>
        </p:nvSpPr>
        <p:spPr>
          <a:xfrm>
            <a:off x="649224" y="2523744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8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· Manufacturer</a:t>
            </a:r>
            <a:endParaRPr lang="en-US" sz="1000"/>
          </a:p>
        </p:txBody>
      </p:sp>
      <p:sp>
        <p:nvSpPr>
          <p:cNvPr id="39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60904" y="1481328"/>
            <a:ext cx="1975104" cy="1371600"/>
          </a:xfrm>
          <a:prstGeom prst="rect">
            <a:avLst/>
          </a:prstGeom>
          <a:solidFill>
            <a:srgbClr val="10386A"/>
          </a:solidFill>
          <a:ln w="12700">
            <a:solidFill>
              <a:srgbClr val="1C9FB4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807208" y="1609344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3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/>
          </a:p>
        </p:txBody>
      </p:sp>
      <p:sp>
        <p:nvSpPr>
          <p:cNvPr id="41" name="Text 39"/>
          <p:cNvSpPr/>
          <p:nvPr/>
        </p:nvSpPr>
        <p:spPr>
          <a:xfrm>
            <a:off x="2807208" y="1956816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5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Quality Inspector</a:t>
            </a:r>
            <a:endParaRPr lang="en-US" sz="1250"/>
          </a:p>
        </p:txBody>
      </p:sp>
      <p:sp>
        <p:nvSpPr>
          <p:cNvPr id="42" name="Text 40"/>
          <p:cNvSpPr/>
          <p:nvPr/>
        </p:nvSpPr>
        <p:spPr>
          <a:xfrm>
            <a:off x="2807208" y="2523744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8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 · Manufacturer</a:t>
            </a:r>
            <a:endParaRPr lang="en-US" sz="1000"/>
          </a:p>
        </p:txBody>
      </p:sp>
      <p:sp>
        <p:nvSpPr>
          <p:cNvPr id="43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8888" y="1481328"/>
            <a:ext cx="1975104" cy="1371600"/>
          </a:xfrm>
          <a:prstGeom prst="rect">
            <a:avLst/>
          </a:prstGeom>
          <a:solidFill>
            <a:srgbClr val="10386A"/>
          </a:solidFill>
          <a:ln w="12700">
            <a:solidFill>
              <a:srgbClr val="1C9FB4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965192" y="1609344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3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/>
          </a:p>
        </p:txBody>
      </p:sp>
      <p:sp>
        <p:nvSpPr>
          <p:cNvPr id="45" name="Text 43"/>
          <p:cNvSpPr/>
          <p:nvPr/>
        </p:nvSpPr>
        <p:spPr>
          <a:xfrm>
            <a:off x="4965192" y="1956816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5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 Rep</a:t>
            </a:r>
            <a:endParaRPr lang="en-US" sz="1250"/>
          </a:p>
        </p:txBody>
      </p:sp>
      <p:sp>
        <p:nvSpPr>
          <p:cNvPr id="46" name="Text 44"/>
          <p:cNvSpPr/>
          <p:nvPr/>
        </p:nvSpPr>
        <p:spPr>
          <a:xfrm>
            <a:off x="4965192" y="2523744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8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· Dealership</a:t>
            </a:r>
            <a:endParaRPr lang="en-US" sz="1000"/>
          </a:p>
        </p:txBody>
      </p:sp>
      <p:sp>
        <p:nvSpPr>
          <p:cNvPr id="47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76872" y="1481328"/>
            <a:ext cx="1975104" cy="1371600"/>
          </a:xfrm>
          <a:prstGeom prst="rect">
            <a:avLst/>
          </a:prstGeom>
          <a:solidFill>
            <a:srgbClr val="10386A"/>
          </a:solidFill>
          <a:ln w="12700">
            <a:solidFill>
              <a:srgbClr val="1C9FB4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123176" y="1609344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3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"/>
          </a:p>
        </p:txBody>
      </p:sp>
      <p:sp>
        <p:nvSpPr>
          <p:cNvPr id="49" name="Text 47"/>
          <p:cNvSpPr/>
          <p:nvPr/>
        </p:nvSpPr>
        <p:spPr>
          <a:xfrm>
            <a:off x="7123176" y="1956816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5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Technician</a:t>
            </a:r>
            <a:endParaRPr lang="en-US" sz="1250"/>
          </a:p>
        </p:txBody>
      </p:sp>
      <p:sp>
        <p:nvSpPr>
          <p:cNvPr id="50" name="Text 48"/>
          <p:cNvSpPr/>
          <p:nvPr/>
        </p:nvSpPr>
        <p:spPr>
          <a:xfrm>
            <a:off x="7123176" y="2523744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8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Center · Dealership</a:t>
            </a:r>
            <a:endParaRPr lang="en-US" sz="1000"/>
          </a:p>
        </p:txBody>
      </p:sp>
      <p:sp>
        <p:nvSpPr>
          <p:cNvPr id="51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090672"/>
            <a:ext cx="1975104" cy="1371600"/>
          </a:xfrm>
          <a:prstGeom prst="rect">
            <a:avLst/>
          </a:prstGeom>
          <a:solidFill>
            <a:srgbClr val="10386A"/>
          </a:solidFill>
          <a:ln w="12700">
            <a:solidFill>
              <a:srgbClr val="1C9FB4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49224" y="321868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3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600"/>
          </a:p>
        </p:txBody>
      </p:sp>
      <p:sp>
        <p:nvSpPr>
          <p:cNvPr id="53" name="Text 51"/>
          <p:cNvSpPr/>
          <p:nvPr/>
        </p:nvSpPr>
        <p:spPr>
          <a:xfrm>
            <a:off x="649224" y="356616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5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Manager</a:t>
            </a:r>
            <a:endParaRPr lang="en-US" sz="1250"/>
          </a:p>
        </p:txBody>
      </p:sp>
      <p:sp>
        <p:nvSpPr>
          <p:cNvPr id="54" name="Text 52"/>
          <p:cNvSpPr/>
          <p:nvPr/>
        </p:nvSpPr>
        <p:spPr>
          <a:xfrm>
            <a:off x="649224" y="413308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8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Center · Dealership</a:t>
            </a:r>
            <a:endParaRPr lang="en-US" sz="1000"/>
          </a:p>
        </p:txBody>
      </p:sp>
      <p:sp>
        <p:nvSpPr>
          <p:cNvPr id="55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60904" y="3090672"/>
            <a:ext cx="1975104" cy="1371600"/>
          </a:xfrm>
          <a:prstGeom prst="rect">
            <a:avLst/>
          </a:prstGeom>
          <a:solidFill>
            <a:srgbClr val="10386A"/>
          </a:solidFill>
          <a:ln w="12700">
            <a:solidFill>
              <a:srgbClr val="1C9FB4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2807208" y="321868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3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600"/>
          </a:p>
        </p:txBody>
      </p:sp>
      <p:sp>
        <p:nvSpPr>
          <p:cNvPr id="57" name="Text 55"/>
          <p:cNvSpPr/>
          <p:nvPr/>
        </p:nvSpPr>
        <p:spPr>
          <a:xfrm>
            <a:off x="2807208" y="356616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5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Warehouse Clerk</a:t>
            </a:r>
            <a:endParaRPr lang="en-US" sz="1250"/>
          </a:p>
        </p:txBody>
      </p:sp>
      <p:sp>
        <p:nvSpPr>
          <p:cNvPr id="58" name="Text 56"/>
          <p:cNvSpPr/>
          <p:nvPr/>
        </p:nvSpPr>
        <p:spPr>
          <a:xfrm>
            <a:off x="2807208" y="413308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8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Warehousing · Supplier</a:t>
            </a:r>
            <a:endParaRPr lang="en-US" sz="1000"/>
          </a:p>
        </p:txBody>
      </p:sp>
      <p:sp>
        <p:nvSpPr>
          <p:cNvPr id="59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8888" y="3090672"/>
            <a:ext cx="1975104" cy="1371600"/>
          </a:xfrm>
          <a:prstGeom prst="rect">
            <a:avLst/>
          </a:prstGeom>
          <a:solidFill>
            <a:srgbClr val="10386A"/>
          </a:solidFill>
          <a:ln w="12700">
            <a:solidFill>
              <a:srgbClr val="1C9FB4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965192" y="321868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3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600"/>
          </a:p>
        </p:txBody>
      </p:sp>
      <p:sp>
        <p:nvSpPr>
          <p:cNvPr id="61" name="Text 59"/>
          <p:cNvSpPr/>
          <p:nvPr/>
        </p:nvSpPr>
        <p:spPr>
          <a:xfrm>
            <a:off x="4965192" y="356616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5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Logistics Coordinator</a:t>
            </a:r>
            <a:endParaRPr lang="en-US" sz="1250"/>
          </a:p>
        </p:txBody>
      </p:sp>
      <p:sp>
        <p:nvSpPr>
          <p:cNvPr id="62" name="Text 60"/>
          <p:cNvSpPr/>
          <p:nvPr/>
        </p:nvSpPr>
        <p:spPr>
          <a:xfrm>
            <a:off x="4965192" y="413308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8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· Supplier</a:t>
            </a:r>
            <a:endParaRPr lang="en-US" sz="1000"/>
          </a:p>
        </p:txBody>
      </p:sp>
      <p:sp>
        <p:nvSpPr>
          <p:cNvPr id="63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76872" y="3090672"/>
            <a:ext cx="1975104" cy="1371600"/>
          </a:xfrm>
          <a:prstGeom prst="rect">
            <a:avLst/>
          </a:prstGeom>
          <a:solidFill>
            <a:srgbClr val="10386A"/>
          </a:solidFill>
          <a:ln w="12700">
            <a:solidFill>
              <a:srgbClr val="1C9FB4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7123176" y="321868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3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600"/>
          </a:p>
        </p:txBody>
      </p:sp>
      <p:sp>
        <p:nvSpPr>
          <p:cNvPr id="65" name="Text 63"/>
          <p:cNvSpPr/>
          <p:nvPr/>
        </p:nvSpPr>
        <p:spPr>
          <a:xfrm>
            <a:off x="7123176" y="356616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5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 Service Rep</a:t>
            </a:r>
            <a:endParaRPr lang="en-US" sz="1250"/>
          </a:p>
        </p:txBody>
      </p:sp>
      <p:sp>
        <p:nvSpPr>
          <p:cNvPr id="66" name="Text 64"/>
          <p:cNvSpPr/>
          <p:nvPr/>
        </p:nvSpPr>
        <p:spPr>
          <a:xfrm>
            <a:off x="7123176" y="413308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8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Center · Dealership</a:t>
            </a:r>
            <a:endParaRPr lang="en-US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eet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6032" y="256032"/>
            <a:ext cx="8631936" cy="4631436"/>
          </a:xfrm>
          <a:prstGeom prst="rect">
            <a:avLst/>
          </a:prstGeom>
          <a:ln w="12700">
            <a:solidFill>
              <a:srgbClr val="1C9F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2920" y="3657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>
                <a:solidFill>
                  <a:srgbClr val="3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IMPLEMENTATION CRITERION  ·  UNIQUE ID</a:t>
            </a:r>
            <a:endParaRPr lang="en-US" sz="1100"/>
          </a:p>
        </p:txBody>
      </p:sp>
      <p:sp>
        <p:nvSpPr>
          <p:cNvPr id="3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60350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2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VIN is the join key across every module</a:t>
            </a:r>
            <a:endParaRPr lang="en-US" sz="2200"/>
          </a:p>
        </p:txBody>
      </p:sp>
      <p:sp>
        <p:nvSpPr>
          <p:cNvPr id="35" name="spok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28800" y="1965960"/>
            <a:ext cx="2743200" cy="1161288"/>
          </a:xfrm>
          <a:prstGeom prst="line">
            <a:avLst/>
          </a:prstGeom>
          <a:noFill/>
          <a:ln w="15875">
            <a:solidFill>
              <a:srgbClr val="1C9FB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6" name="spok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4572000" y="1965960"/>
            <a:ext cx="2743200" cy="1161288"/>
          </a:xfrm>
          <a:prstGeom prst="line">
            <a:avLst/>
          </a:prstGeom>
          <a:noFill/>
          <a:ln w="15875">
            <a:solidFill>
              <a:srgbClr val="1C9FB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7" name="spok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1828800" y="3127248"/>
            <a:ext cx="2743200" cy="1033272"/>
          </a:xfrm>
          <a:prstGeom prst="line">
            <a:avLst/>
          </a:prstGeom>
          <a:noFill/>
          <a:ln w="15875">
            <a:solidFill>
              <a:srgbClr val="1C9FB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9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8680" y="1545336"/>
            <a:ext cx="1920240" cy="841248"/>
          </a:xfrm>
          <a:prstGeom prst="rect">
            <a:avLst/>
          </a:prstGeom>
          <a:solidFill>
            <a:srgbClr val="0F2F52"/>
          </a:solidFill>
          <a:ln w="12700">
            <a:solidFill>
              <a:srgbClr val="1C9FB4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68680" y="1691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 RECORD</a:t>
            </a:r>
            <a:endParaRPr lang="en-US" sz="1250"/>
          </a:p>
        </p:txBody>
      </p:sp>
      <p:sp>
        <p:nvSpPr>
          <p:cNvPr id="41" name="Text 39"/>
          <p:cNvSpPr/>
          <p:nvPr/>
        </p:nvSpPr>
        <p:spPr>
          <a:xfrm>
            <a:off x="868680" y="20025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buyer, price, registration</a:t>
            </a:r>
            <a:endParaRPr lang="en-US" sz="1050"/>
          </a:p>
        </p:txBody>
      </p:sp>
      <p:sp>
        <p:nvSpPr>
          <p:cNvPr id="42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55080" y="1545336"/>
            <a:ext cx="1920240" cy="841248"/>
          </a:xfrm>
          <a:prstGeom prst="rect">
            <a:avLst/>
          </a:prstGeom>
          <a:solidFill>
            <a:srgbClr val="0F2F52"/>
          </a:solidFill>
          <a:ln w="12700">
            <a:solidFill>
              <a:srgbClr val="1C9FB4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355080" y="1691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HISTORY</a:t>
            </a:r>
            <a:endParaRPr lang="en-US" sz="1250"/>
          </a:p>
        </p:txBody>
      </p:sp>
      <p:sp>
        <p:nvSpPr>
          <p:cNvPr id="44" name="Text 42"/>
          <p:cNvSpPr/>
          <p:nvPr/>
        </p:nvSpPr>
        <p:spPr>
          <a:xfrm>
            <a:off x="6355080" y="20025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orders, repairs</a:t>
            </a:r>
            <a:endParaRPr lang="en-US" sz="1050"/>
          </a:p>
        </p:txBody>
      </p:sp>
      <p:sp>
        <p:nvSpPr>
          <p:cNvPr id="45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8680" y="3739896"/>
            <a:ext cx="1920240" cy="841248"/>
          </a:xfrm>
          <a:prstGeom prst="rect">
            <a:avLst/>
          </a:prstGeom>
          <a:solidFill>
            <a:srgbClr val="0F2F52"/>
          </a:solidFill>
          <a:ln w="12700">
            <a:solidFill>
              <a:srgbClr val="1C9FB4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68680" y="3886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PARTS USAGE</a:t>
            </a:r>
            <a:endParaRPr lang="en-US" sz="1250"/>
          </a:p>
        </p:txBody>
      </p:sp>
      <p:sp>
        <p:nvSpPr>
          <p:cNvPr id="47" name="Text 45"/>
          <p:cNvSpPr/>
          <p:nvPr/>
        </p:nvSpPr>
        <p:spPr>
          <a:xfrm>
            <a:off x="868680" y="419709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BOM, replacements</a:t>
            </a:r>
            <a:endParaRPr lang="en-US" sz="1050"/>
          </a:p>
        </p:txBody>
      </p:sp>
      <p:sp>
        <p:nvSpPr>
          <p:cNvPr id="51" name="VIN hub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57600" y="2670048"/>
            <a:ext cx="1828800" cy="914400"/>
          </a:xfrm>
          <a:prstGeom prst="rect">
            <a:avLst/>
          </a:prstGeom>
          <a:solidFill>
            <a:srgbClr val="37D2E6"/>
          </a:solidFill>
          <a:ln w="15875">
            <a:solidFill>
              <a:srgbClr val="FFFFFF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657600" y="27614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0C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VIN</a:t>
            </a:r>
            <a:endParaRPr lang="en-US" sz="3000"/>
          </a:p>
        </p:txBody>
      </p:sp>
      <p:sp>
        <p:nvSpPr>
          <p:cNvPr id="53" name="Text 51"/>
          <p:cNvSpPr/>
          <p:nvPr/>
        </p:nvSpPr>
        <p:spPr>
          <a:xfrm>
            <a:off x="3657600" y="3291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>
                <a:solidFill>
                  <a:srgbClr val="0C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 ID</a:t>
            </a:r>
            <a:endParaRPr lang="en-US" sz="1000"/>
          </a:p>
        </p:txBody>
      </p:sp>
      <p:sp>
        <p:nvSpPr>
          <p:cNvPr id="54" name="Text 52"/>
          <p:cNvSpPr/>
          <p:nvPr/>
        </p:nvSpPr>
        <p:spPr>
          <a:xfrm>
            <a:off x="914400" y="4617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8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at build → one identity for the vehicle's entire life across all three enterprises.</a:t>
            </a:r>
            <a:endParaRPr lang="en-US" sz="1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eet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6032" y="256032"/>
            <a:ext cx="8631936" cy="4631436"/>
          </a:xfrm>
          <a:prstGeom prst="rect">
            <a:avLst/>
          </a:prstGeom>
          <a:ln w="12700">
            <a:solidFill>
              <a:srgbClr val="1C9F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2920" y="3657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>
                <a:solidFill>
                  <a:srgbClr val="3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IMPLEMENTATION CRITERION  ·  LIFECYCLE MANAGEMENT</a:t>
            </a:r>
            <a:endParaRPr lang="en-US" sz="1100"/>
          </a:p>
        </p:txBody>
      </p:sp>
      <p:sp>
        <p:nvSpPr>
          <p:cNvPr id="3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60350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1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lifecycle, from order to second life — tracked end to end</a:t>
            </a:r>
            <a:endParaRPr lang="en-US" sz="2100"/>
          </a:p>
        </p:txBody>
      </p:sp>
      <p:sp>
        <p:nvSpPr>
          <p:cNvPr id="35" name="state nod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148840"/>
            <a:ext cx="907143" cy="868680"/>
          </a:xfrm>
          <a:prstGeom prst="rect">
            <a:avLst/>
          </a:prstGeom>
          <a:solidFill>
            <a:srgbClr val="10386A"/>
          </a:solidFill>
          <a:ln w="19050">
            <a:solidFill>
              <a:srgbClr val="37D2E6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tat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148840"/>
            <a:ext cx="907143" cy="109728"/>
          </a:xfrm>
          <a:prstGeom prst="rect">
            <a:avLst/>
          </a:prstGeom>
          <a:solidFill>
            <a:srgbClr val="37D2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"/>
          <p:cNvSpPr/>
          <p:nvPr/>
        </p:nvSpPr>
        <p:spPr>
          <a:xfrm>
            <a:off x="502920" y="1837944"/>
            <a:ext cx="90714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150">
                <a:solidFill>
                  <a:srgbClr val="8AA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</a:t>
            </a:r>
            <a:endParaRPr lang="en-US" sz="850"/>
          </a:p>
        </p:txBody>
      </p:sp>
      <p:sp>
        <p:nvSpPr>
          <p:cNvPr id="38" name="Text"/>
          <p:cNvSpPr/>
          <p:nvPr/>
        </p:nvSpPr>
        <p:spPr>
          <a:xfrm>
            <a:off x="502920" y="2386584"/>
            <a:ext cx="9071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ORDERED</a:t>
            </a:r>
            <a:endParaRPr lang="en-US" sz="1050"/>
          </a:p>
        </p:txBody>
      </p:sp>
      <p:sp>
        <p:nvSpPr>
          <p:cNvPr id="39" name="Text"/>
          <p:cNvSpPr/>
          <p:nvPr/>
        </p:nvSpPr>
        <p:spPr>
          <a:xfrm>
            <a:off x="502920" y="2715768"/>
            <a:ext cx="9071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</a:t>
            </a:r>
            <a:endParaRPr lang="en-US" sz="950"/>
          </a:p>
        </p:txBody>
      </p:sp>
      <p:sp>
        <p:nvSpPr>
          <p:cNvPr id="40" name="Text"/>
          <p:cNvSpPr/>
          <p:nvPr/>
        </p:nvSpPr>
        <p:spPr>
          <a:xfrm>
            <a:off x="1407417" y="2148840"/>
            <a:ext cx="13898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3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2000"/>
          </a:p>
        </p:txBody>
      </p:sp>
      <p:sp>
        <p:nvSpPr>
          <p:cNvPr id="41" name="state nod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3760" y="2148840"/>
            <a:ext cx="907143" cy="868680"/>
          </a:xfrm>
          <a:prstGeom prst="rect">
            <a:avLst/>
          </a:prstGeom>
          <a:solidFill>
            <a:srgbClr val="10386A"/>
          </a:solidFill>
          <a:ln w="19050">
            <a:solidFill>
              <a:srgbClr val="37D2E6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tat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3760" y="2148840"/>
            <a:ext cx="907143" cy="109728"/>
          </a:xfrm>
          <a:prstGeom prst="rect">
            <a:avLst/>
          </a:prstGeom>
          <a:solidFill>
            <a:srgbClr val="37D2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"/>
          <p:cNvSpPr/>
          <p:nvPr/>
        </p:nvSpPr>
        <p:spPr>
          <a:xfrm>
            <a:off x="1543760" y="1837944"/>
            <a:ext cx="90714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150">
                <a:solidFill>
                  <a:srgbClr val="8AA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</a:t>
            </a:r>
            <a:endParaRPr lang="en-US" sz="850"/>
          </a:p>
        </p:txBody>
      </p:sp>
      <p:sp>
        <p:nvSpPr>
          <p:cNvPr id="44" name="Text"/>
          <p:cNvSpPr/>
          <p:nvPr/>
        </p:nvSpPr>
        <p:spPr>
          <a:xfrm>
            <a:off x="1543760" y="2386584"/>
            <a:ext cx="9071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</a:t>
            </a:r>
            <a:endParaRPr lang="en-US" sz="1050"/>
          </a:p>
        </p:txBody>
      </p:sp>
      <p:sp>
        <p:nvSpPr>
          <p:cNvPr id="45" name="Text"/>
          <p:cNvSpPr/>
          <p:nvPr/>
        </p:nvSpPr>
        <p:spPr>
          <a:xfrm>
            <a:off x="1543760" y="2715768"/>
            <a:ext cx="9071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950"/>
          </a:p>
        </p:txBody>
      </p:sp>
      <p:sp>
        <p:nvSpPr>
          <p:cNvPr id="46" name="Text"/>
          <p:cNvSpPr/>
          <p:nvPr/>
        </p:nvSpPr>
        <p:spPr>
          <a:xfrm>
            <a:off x="2448257" y="2148840"/>
            <a:ext cx="13898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3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2000"/>
          </a:p>
        </p:txBody>
      </p:sp>
      <p:sp>
        <p:nvSpPr>
          <p:cNvPr id="47" name="state nod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84600" y="2148840"/>
            <a:ext cx="907143" cy="868680"/>
          </a:xfrm>
          <a:prstGeom prst="rect">
            <a:avLst/>
          </a:prstGeom>
          <a:solidFill>
            <a:srgbClr val="10386A"/>
          </a:solidFill>
          <a:ln w="19050">
            <a:solidFill>
              <a:srgbClr val="37D2E6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tat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84600" y="2148840"/>
            <a:ext cx="907143" cy="109728"/>
          </a:xfrm>
          <a:prstGeom prst="rect">
            <a:avLst/>
          </a:prstGeom>
          <a:solidFill>
            <a:srgbClr val="37D2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"/>
          <p:cNvSpPr/>
          <p:nvPr/>
        </p:nvSpPr>
        <p:spPr>
          <a:xfrm>
            <a:off x="2584600" y="1837944"/>
            <a:ext cx="90714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150">
                <a:solidFill>
                  <a:srgbClr val="8AA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</a:t>
            </a:r>
            <a:endParaRPr lang="en-US" sz="850"/>
          </a:p>
        </p:txBody>
      </p:sp>
      <p:sp>
        <p:nvSpPr>
          <p:cNvPr id="50" name="Text"/>
          <p:cNvSpPr/>
          <p:nvPr/>
        </p:nvSpPr>
        <p:spPr>
          <a:xfrm>
            <a:off x="2584600" y="2386584"/>
            <a:ext cx="9071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SHIPPED</a:t>
            </a:r>
            <a:endParaRPr lang="en-US" sz="1050"/>
          </a:p>
        </p:txBody>
      </p:sp>
      <p:sp>
        <p:nvSpPr>
          <p:cNvPr id="51" name="Text"/>
          <p:cNvSpPr/>
          <p:nvPr/>
        </p:nvSpPr>
        <p:spPr>
          <a:xfrm>
            <a:off x="2584600" y="2715768"/>
            <a:ext cx="9071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endParaRPr lang="en-US" sz="950"/>
          </a:p>
        </p:txBody>
      </p:sp>
      <p:sp>
        <p:nvSpPr>
          <p:cNvPr id="52" name="Text"/>
          <p:cNvSpPr/>
          <p:nvPr/>
        </p:nvSpPr>
        <p:spPr>
          <a:xfrm>
            <a:off x="3489097" y="2148840"/>
            <a:ext cx="13898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3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2000"/>
          </a:p>
        </p:txBody>
      </p:sp>
      <p:sp>
        <p:nvSpPr>
          <p:cNvPr id="53" name="state nod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25440" y="2148840"/>
            <a:ext cx="907143" cy="868680"/>
          </a:xfrm>
          <a:prstGeom prst="rect">
            <a:avLst/>
          </a:prstGeom>
          <a:solidFill>
            <a:srgbClr val="10386A"/>
          </a:solidFill>
          <a:ln w="19050">
            <a:solidFill>
              <a:srgbClr val="56D08A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tat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25440" y="2148840"/>
            <a:ext cx="907143" cy="109728"/>
          </a:xfrm>
          <a:prstGeom prst="rect">
            <a:avLst/>
          </a:prstGeom>
          <a:solidFill>
            <a:srgbClr val="56D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"/>
          <p:cNvSpPr/>
          <p:nvPr/>
        </p:nvSpPr>
        <p:spPr>
          <a:xfrm>
            <a:off x="3625440" y="1837944"/>
            <a:ext cx="90714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150">
                <a:solidFill>
                  <a:srgbClr val="8AA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4</a:t>
            </a:r>
            <a:endParaRPr lang="en-US" sz="850"/>
          </a:p>
        </p:txBody>
      </p:sp>
      <p:sp>
        <p:nvSpPr>
          <p:cNvPr id="56" name="Text"/>
          <p:cNvSpPr/>
          <p:nvPr/>
        </p:nvSpPr>
        <p:spPr>
          <a:xfrm>
            <a:off x="3625440" y="2386584"/>
            <a:ext cx="9071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SOLD</a:t>
            </a:r>
            <a:endParaRPr lang="en-US" sz="1050"/>
          </a:p>
        </p:txBody>
      </p:sp>
      <p:sp>
        <p:nvSpPr>
          <p:cNvPr id="57" name="Text"/>
          <p:cNvSpPr/>
          <p:nvPr/>
        </p:nvSpPr>
        <p:spPr>
          <a:xfrm>
            <a:off x="3625440" y="2715768"/>
            <a:ext cx="9071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</a:t>
            </a:r>
            <a:endParaRPr lang="en-US" sz="950"/>
          </a:p>
        </p:txBody>
      </p:sp>
      <p:sp>
        <p:nvSpPr>
          <p:cNvPr id="58" name="Text"/>
          <p:cNvSpPr/>
          <p:nvPr/>
        </p:nvSpPr>
        <p:spPr>
          <a:xfrm>
            <a:off x="4529937" y="2148840"/>
            <a:ext cx="13898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3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2000"/>
          </a:p>
        </p:txBody>
      </p:sp>
      <p:sp>
        <p:nvSpPr>
          <p:cNvPr id="59" name="state nod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6280" y="2148840"/>
            <a:ext cx="907143" cy="868680"/>
          </a:xfrm>
          <a:prstGeom prst="rect">
            <a:avLst/>
          </a:prstGeom>
          <a:solidFill>
            <a:srgbClr val="10386A"/>
          </a:solidFill>
          <a:ln w="19050">
            <a:solidFill>
              <a:srgbClr val="56D08A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stat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6280" y="2148840"/>
            <a:ext cx="907143" cy="109728"/>
          </a:xfrm>
          <a:prstGeom prst="rect">
            <a:avLst/>
          </a:prstGeom>
          <a:solidFill>
            <a:srgbClr val="56D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"/>
          <p:cNvSpPr/>
          <p:nvPr/>
        </p:nvSpPr>
        <p:spPr>
          <a:xfrm>
            <a:off x="4666280" y="1837944"/>
            <a:ext cx="90714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150">
                <a:solidFill>
                  <a:srgbClr val="8AA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5</a:t>
            </a:r>
            <a:endParaRPr lang="en-US" sz="850"/>
          </a:p>
        </p:txBody>
      </p:sp>
      <p:sp>
        <p:nvSpPr>
          <p:cNvPr id="62" name="Text"/>
          <p:cNvSpPr/>
          <p:nvPr/>
        </p:nvSpPr>
        <p:spPr>
          <a:xfrm>
            <a:off x="4666280" y="2386584"/>
            <a:ext cx="9071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IN-SERVICE</a:t>
            </a:r>
            <a:endParaRPr lang="en-US" sz="1050"/>
          </a:p>
        </p:txBody>
      </p:sp>
      <p:sp>
        <p:nvSpPr>
          <p:cNvPr id="63" name="Text"/>
          <p:cNvSpPr/>
          <p:nvPr/>
        </p:nvSpPr>
        <p:spPr>
          <a:xfrm>
            <a:off x="4666280" y="2715768"/>
            <a:ext cx="9071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Tech</a:t>
            </a:r>
            <a:endParaRPr lang="en-US" sz="950"/>
          </a:p>
        </p:txBody>
      </p:sp>
      <p:sp>
        <p:nvSpPr>
          <p:cNvPr id="64" name="Text"/>
          <p:cNvSpPr/>
          <p:nvPr/>
        </p:nvSpPr>
        <p:spPr>
          <a:xfrm>
            <a:off x="5570777" y="2148840"/>
            <a:ext cx="13898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3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2000"/>
          </a:p>
        </p:txBody>
      </p:sp>
      <p:sp>
        <p:nvSpPr>
          <p:cNvPr id="65" name="state nod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07120" y="2148840"/>
            <a:ext cx="907143" cy="868680"/>
          </a:xfrm>
          <a:prstGeom prst="rect">
            <a:avLst/>
          </a:prstGeom>
          <a:solidFill>
            <a:srgbClr val="10386A"/>
          </a:solidFill>
          <a:ln w="19050">
            <a:solidFill>
              <a:srgbClr val="F4A836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6" name="stat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07120" y="2148840"/>
            <a:ext cx="907143" cy="109728"/>
          </a:xfrm>
          <a:prstGeom prst="rect">
            <a:avLst/>
          </a:prstGeom>
          <a:solidFill>
            <a:srgbClr val="F4A8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"/>
          <p:cNvSpPr/>
          <p:nvPr/>
        </p:nvSpPr>
        <p:spPr>
          <a:xfrm>
            <a:off x="5707120" y="1837944"/>
            <a:ext cx="90714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150">
                <a:solidFill>
                  <a:srgbClr val="8AA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6</a:t>
            </a:r>
            <a:endParaRPr lang="en-US" sz="850"/>
          </a:p>
        </p:txBody>
      </p:sp>
      <p:sp>
        <p:nvSpPr>
          <p:cNvPr id="68" name="Text"/>
          <p:cNvSpPr/>
          <p:nvPr/>
        </p:nvSpPr>
        <p:spPr>
          <a:xfrm>
            <a:off x="5707120" y="2386584"/>
            <a:ext cx="9071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SERVICED</a:t>
            </a:r>
            <a:endParaRPr lang="en-US" sz="1050"/>
          </a:p>
        </p:txBody>
      </p:sp>
      <p:sp>
        <p:nvSpPr>
          <p:cNvPr id="69" name="Text"/>
          <p:cNvSpPr/>
          <p:nvPr/>
        </p:nvSpPr>
        <p:spPr>
          <a:xfrm>
            <a:off x="5707120" y="2715768"/>
            <a:ext cx="9071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Mgr</a:t>
            </a:r>
            <a:endParaRPr lang="en-US" sz="950"/>
          </a:p>
        </p:txBody>
      </p:sp>
      <p:sp>
        <p:nvSpPr>
          <p:cNvPr id="70" name="Text"/>
          <p:cNvSpPr/>
          <p:nvPr/>
        </p:nvSpPr>
        <p:spPr>
          <a:xfrm>
            <a:off x="6611617" y="2148840"/>
            <a:ext cx="13898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3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2000"/>
          </a:p>
        </p:txBody>
      </p:sp>
      <p:sp>
        <p:nvSpPr>
          <p:cNvPr id="71" name="state nod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47960" y="2148840"/>
            <a:ext cx="907143" cy="868680"/>
          </a:xfrm>
          <a:prstGeom prst="rect">
            <a:avLst/>
          </a:prstGeom>
          <a:solidFill>
            <a:srgbClr val="10386A"/>
          </a:solidFill>
          <a:ln w="19050">
            <a:solidFill>
              <a:srgbClr val="F4A836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2" name="stat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47960" y="2148840"/>
            <a:ext cx="907143" cy="109728"/>
          </a:xfrm>
          <a:prstGeom prst="rect">
            <a:avLst/>
          </a:prstGeom>
          <a:solidFill>
            <a:srgbClr val="F4A8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"/>
          <p:cNvSpPr/>
          <p:nvPr/>
        </p:nvSpPr>
        <p:spPr>
          <a:xfrm>
            <a:off x="6747960" y="1837944"/>
            <a:ext cx="90714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150">
                <a:solidFill>
                  <a:srgbClr val="8AA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7</a:t>
            </a:r>
            <a:endParaRPr lang="en-US" sz="850"/>
          </a:p>
        </p:txBody>
      </p:sp>
      <p:sp>
        <p:nvSpPr>
          <p:cNvPr id="74" name="Text"/>
          <p:cNvSpPr/>
          <p:nvPr/>
        </p:nvSpPr>
        <p:spPr>
          <a:xfrm>
            <a:off x="6747960" y="2386584"/>
            <a:ext cx="9071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TRADED-IN</a:t>
            </a:r>
            <a:endParaRPr lang="en-US" sz="1050"/>
          </a:p>
        </p:txBody>
      </p:sp>
      <p:sp>
        <p:nvSpPr>
          <p:cNvPr id="75" name="Text"/>
          <p:cNvSpPr/>
          <p:nvPr/>
        </p:nvSpPr>
        <p:spPr>
          <a:xfrm>
            <a:off x="6747960" y="2715768"/>
            <a:ext cx="9071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</a:t>
            </a:r>
            <a:endParaRPr lang="en-US" sz="950"/>
          </a:p>
        </p:txBody>
      </p:sp>
      <p:sp>
        <p:nvSpPr>
          <p:cNvPr id="76" name="Text"/>
          <p:cNvSpPr/>
          <p:nvPr/>
        </p:nvSpPr>
        <p:spPr>
          <a:xfrm>
            <a:off x="7652457" y="2148840"/>
            <a:ext cx="13898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3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2000"/>
          </a:p>
        </p:txBody>
      </p:sp>
      <p:sp>
        <p:nvSpPr>
          <p:cNvPr id="77" name="state nod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88800" y="2148840"/>
            <a:ext cx="907143" cy="868680"/>
          </a:xfrm>
          <a:prstGeom prst="rect">
            <a:avLst/>
          </a:prstGeom>
          <a:solidFill>
            <a:srgbClr val="10386A"/>
          </a:solidFill>
          <a:ln w="19050">
            <a:solidFill>
              <a:srgbClr val="F4A836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8" name="stat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88800" y="2148840"/>
            <a:ext cx="907143" cy="109728"/>
          </a:xfrm>
          <a:prstGeom prst="rect">
            <a:avLst/>
          </a:prstGeom>
          <a:solidFill>
            <a:srgbClr val="F4A8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Text"/>
          <p:cNvSpPr/>
          <p:nvPr/>
        </p:nvSpPr>
        <p:spPr>
          <a:xfrm>
            <a:off x="7788800" y="1837944"/>
            <a:ext cx="90714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150">
                <a:solidFill>
                  <a:srgbClr val="8AA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8</a:t>
            </a:r>
            <a:endParaRPr lang="en-US" sz="850"/>
          </a:p>
        </p:txBody>
      </p:sp>
      <p:sp>
        <p:nvSpPr>
          <p:cNvPr id="80" name="Text"/>
          <p:cNvSpPr/>
          <p:nvPr/>
        </p:nvSpPr>
        <p:spPr>
          <a:xfrm>
            <a:off x="7788800" y="2386584"/>
            <a:ext cx="9071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SECOND LIFE</a:t>
            </a:r>
            <a:endParaRPr lang="en-US" sz="1050"/>
          </a:p>
        </p:txBody>
      </p:sp>
      <p:sp>
        <p:nvSpPr>
          <p:cNvPr id="81" name="Text"/>
          <p:cNvSpPr/>
          <p:nvPr/>
        </p:nvSpPr>
        <p:spPr>
          <a:xfrm>
            <a:off x="7788800" y="2715768"/>
            <a:ext cx="9071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950"/>
          </a:p>
        </p:txBody>
      </p:sp>
      <p:sp>
        <p:nvSpPr>
          <p:cNvPr id="83" name="Text 68"/>
          <p:cNvSpPr/>
          <p:nvPr/>
        </p:nvSpPr>
        <p:spPr>
          <a:xfrm>
            <a:off x="50292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>
                <a:solidFill>
                  <a:srgbClr val="8AA6C2"/>
                </a:solidFill>
                <a:latin typeface="Calibri"/>
                <a:ea typeface="Calibri"/>
                <a:cs typeface="Calibri"/>
              </a:rPr>
              <a:t>Every transition is auditable and role-owned — spanning the full vehicle lifecycle </a:t>
            </a:r>
            <a:endParaRPr lang="en-US" sz="1300" i="1">
              <a:solidFill>
                <a:srgbClr val="8AA6C2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eet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6032" y="256032"/>
            <a:ext cx="8631936" cy="4631436"/>
          </a:xfrm>
          <a:prstGeom prst="rect">
            <a:avLst/>
          </a:prstGeom>
          <a:ln w="12700">
            <a:solidFill>
              <a:srgbClr val="1C9F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2920" y="3657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>
                <a:solidFill>
                  <a:srgbClr val="3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IMPLEMENTATION TECHNIQUES</a:t>
            </a:r>
            <a:endParaRPr lang="en-US" sz="1100"/>
          </a:p>
        </p:txBody>
      </p:sp>
      <p:sp>
        <p:nvSpPr>
          <p:cNvPr id="3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60350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4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the design is built and enforced</a:t>
            </a:r>
            <a:endParaRPr lang="en-US" sz="2400"/>
          </a:p>
        </p:txBody>
      </p:sp>
      <p:sp>
        <p:nvSpPr>
          <p:cNvPr id="35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2670048" cy="2926080"/>
          </a:xfrm>
          <a:prstGeom prst="rect">
            <a:avLst/>
          </a:prstGeom>
          <a:solidFill>
            <a:srgbClr val="10386A"/>
          </a:solidFill>
          <a:ln w="12700">
            <a:solidFill>
              <a:srgbClr val="1C9FB4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128016" cy="0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0" cy="128016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4952" y="4443984"/>
            <a:ext cx="128016" cy="0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72968" y="4315968"/>
            <a:ext cx="0" cy="128016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04088" y="171907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3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600"/>
          </a:p>
        </p:txBody>
      </p:sp>
      <p:sp>
        <p:nvSpPr>
          <p:cNvPr id="41" name="Text 39"/>
          <p:cNvSpPr/>
          <p:nvPr/>
        </p:nvSpPr>
        <p:spPr>
          <a:xfrm>
            <a:off x="704088" y="2267712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SHARED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5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MODEL</a:t>
            </a:r>
            <a:endParaRPr lang="en-US" sz="1500"/>
          </a:p>
        </p:txBody>
      </p:sp>
      <p:sp>
        <p:nvSpPr>
          <p:cNvPr id="42" name="Text 40"/>
          <p:cNvSpPr/>
          <p:nvPr/>
        </p:nvSpPr>
        <p:spPr>
          <a:xfrm>
            <a:off x="704088" y="3090672"/>
            <a:ext cx="22677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VIN is issued once at build as the primary key; every module — sales, service, parts, — foreign-keys to it, so records join without duplication.</a:t>
            </a:r>
            <a:endParaRPr lang="en-US" sz="1250"/>
          </a:p>
        </p:txBody>
      </p:sp>
      <p:sp>
        <p:nvSpPr>
          <p:cNvPr id="43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38144" y="1517904"/>
            <a:ext cx="2670048" cy="2926080"/>
          </a:xfrm>
          <a:prstGeom prst="rect">
            <a:avLst/>
          </a:prstGeom>
          <a:solidFill>
            <a:srgbClr val="10386A"/>
          </a:solidFill>
          <a:ln w="12700">
            <a:solidFill>
              <a:srgbClr val="1C9FB4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38144" y="1517904"/>
            <a:ext cx="128016" cy="0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38144" y="1517904"/>
            <a:ext cx="0" cy="128016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80176" y="4443984"/>
            <a:ext cx="128016" cy="0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08192" y="4315968"/>
            <a:ext cx="0" cy="128016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639312" y="171907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3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600"/>
          </a:p>
        </p:txBody>
      </p:sp>
      <p:sp>
        <p:nvSpPr>
          <p:cNvPr id="49" name="Text 47"/>
          <p:cNvSpPr/>
          <p:nvPr/>
        </p:nvSpPr>
        <p:spPr>
          <a:xfrm>
            <a:off x="3639312" y="2267712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5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 MACHINE</a:t>
            </a:r>
            <a:endParaRPr lang="en-US" sz="1500"/>
          </a:p>
        </p:txBody>
      </p:sp>
      <p:sp>
        <p:nvSpPr>
          <p:cNvPr id="50" name="Text 48"/>
          <p:cNvSpPr/>
          <p:nvPr/>
        </p:nvSpPr>
        <p:spPr>
          <a:xfrm>
            <a:off x="3639312" y="3090672"/>
            <a:ext cx="22677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eight-stage lifecycle (ordered → second life) runs as guarded transitions; each change is role-owned, timestamped, and written to an audit trail.</a:t>
            </a:r>
            <a:endParaRPr lang="en-US" sz="1250"/>
          </a:p>
        </p:txBody>
      </p:sp>
      <p:sp>
        <p:nvSpPr>
          <p:cNvPr id="51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73368" y="1517904"/>
            <a:ext cx="2670048" cy="2926080"/>
          </a:xfrm>
          <a:prstGeom prst="rect">
            <a:avLst/>
          </a:prstGeom>
          <a:solidFill>
            <a:srgbClr val="10386A"/>
          </a:solidFill>
          <a:ln w="12700">
            <a:solidFill>
              <a:srgbClr val="1C9FB4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73368" y="1517904"/>
            <a:ext cx="128016" cy="0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73368" y="1517904"/>
            <a:ext cx="0" cy="128016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15400" y="4443984"/>
            <a:ext cx="128016" cy="0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43416" y="4315968"/>
            <a:ext cx="0" cy="128016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574536" y="171907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3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600"/>
          </a:p>
        </p:txBody>
      </p:sp>
      <p:sp>
        <p:nvSpPr>
          <p:cNvPr id="57" name="Text 55"/>
          <p:cNvSpPr/>
          <p:nvPr/>
        </p:nvSpPr>
        <p:spPr>
          <a:xfrm>
            <a:off x="6574536" y="2267712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INTERFACES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5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 ACCESS</a:t>
            </a:r>
            <a:endParaRPr lang="en-US" sz="1500"/>
          </a:p>
        </p:txBody>
      </p:sp>
      <p:sp>
        <p:nvSpPr>
          <p:cNvPr id="58" name="Text 56"/>
          <p:cNvSpPr/>
          <p:nvPr/>
        </p:nvSpPr>
        <p:spPr>
          <a:xfrm>
            <a:off x="6574536" y="3090672"/>
            <a:ext cx="22677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systems exchange VIN and status over defined interfaces; role-based permissions bind each transition to the one role allowed to advance it.</a:t>
            </a:r>
            <a:endParaRPr lang="en-US" sz="12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eet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6032" y="256032"/>
            <a:ext cx="8631936" cy="4631436"/>
          </a:xfrm>
          <a:prstGeom prst="rect">
            <a:avLst/>
          </a:prstGeom>
          <a:ln w="12700">
            <a:solidFill>
              <a:srgbClr val="1C9F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2920" y="3657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>
                <a:solidFill>
                  <a:srgbClr val="3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IMPLEMENTATION SCOPE  ·  FULL CRITERIA</a:t>
            </a:r>
            <a:endParaRPr lang="en-US" sz="1100"/>
          </a:p>
        </p:txBody>
      </p:sp>
      <p:sp>
        <p:nvSpPr>
          <p:cNvPr id="3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60350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1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Beyond status tracking — the full build scope</a:t>
            </a:r>
            <a:endParaRPr lang="en-US" sz="2100"/>
          </a:p>
        </p:txBody>
      </p:sp>
      <p:sp>
        <p:nvSpPr>
          <p:cNvPr id="35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17320"/>
            <a:ext cx="2670048" cy="3246120"/>
          </a:xfrm>
          <a:prstGeom prst="rect">
            <a:avLst/>
          </a:prstGeom>
          <a:solidFill>
            <a:srgbClr val="10386A"/>
          </a:solidFill>
          <a:ln w="12700">
            <a:solidFill>
              <a:srgbClr val="1C9FB4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fl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17320"/>
            <a:ext cx="2670048" cy="91440"/>
          </a:xfrm>
          <a:prstGeom prst="rect">
            <a:avLst/>
          </a:prstGeom>
          <a:solidFill>
            <a:srgbClr val="37D2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04088" y="1655064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00" b="1">
                <a:solidFill>
                  <a:srgbClr val="3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</a:t>
            </a:r>
            <a:r>
              <a:rPr lang="en-US" sz="13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&amp; Design Model</a:t>
            </a:r>
            <a:endParaRPr lang="en-US" sz="1300"/>
          </a:p>
        </p:txBody>
      </p:sp>
      <p:sp>
        <p:nvSpPr>
          <p:cNvPr id="38" name="Text 36"/>
          <p:cNvSpPr/>
          <p:nvPr/>
        </p:nvSpPr>
        <p:spPr>
          <a:xfrm>
            <a:off x="704088" y="2167128"/>
            <a:ext cx="2267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>
                <a:solidFill>
                  <a:srgbClr val="3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· types · CRUD · IDs</a:t>
            </a:r>
            <a:endParaRPr lang="en-US" sz="1100"/>
          </a:p>
        </p:txBody>
      </p:sp>
      <p:sp>
        <p:nvSpPr>
          <p:cNvPr id="39" name="Text 37"/>
          <p:cNvSpPr/>
          <p:nvPr/>
        </p:nvSpPr>
        <p:spPr>
          <a:xfrm>
            <a:off x="722376" y="2514600"/>
            <a:ext cx="22494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20040" indent="-320040" algn="l">
              <a:lnSpc>
                <a:spcPct val="100000"/>
              </a:lnSpc>
              <a:spcAft>
                <a:spcPts val="600"/>
              </a:spcAft>
              <a:buSzPct val="100000"/>
              <a:buChar char="→"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design — </a:t>
            </a:r>
            <a:r>
              <a:rPr lang="en-US" sz="100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OO model per entity</a:t>
            </a:r>
          </a:p>
          <a:p>
            <a:pPr marL="320040" indent="-320040" algn="l">
              <a:lnSpc>
                <a:spcPct val="100000"/>
              </a:lnSpc>
              <a:spcAft>
                <a:spcPts val="600"/>
              </a:spcAft>
              <a:buSzPct val="100000"/>
              <a:buChar char="→"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 — </a:t>
            </a:r>
            <a:r>
              <a:rPr lang="en-US" sz="100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VIN, dates, money, status enums</a:t>
            </a:r>
          </a:p>
          <a:p>
            <a:pPr marL="320040" indent="-320040" algn="l">
              <a:lnSpc>
                <a:spcPct val="100000"/>
              </a:lnSpc>
              <a:spcAft>
                <a:spcPts val="600"/>
              </a:spcAft>
              <a:buSzPct val="100000"/>
              <a:buChar char="→"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— </a:t>
            </a:r>
            <a:r>
              <a:rPr lang="en-US" sz="100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read, update, delete on all entities</a:t>
            </a:r>
          </a:p>
          <a:p>
            <a:pPr marL="320040" indent="-320040" algn="l">
              <a:lnSpc>
                <a:spcPct val="100000"/>
              </a:lnSpc>
              <a:spcAft>
                <a:spcPts val="600"/>
              </a:spcAft>
              <a:buSzPct val="100000"/>
              <a:buChar char="→"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 — </a:t>
            </a:r>
            <a:r>
              <a:rPr lang="en-US" sz="100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 as the system-wide key</a:t>
            </a:r>
          </a:p>
          <a:p>
            <a:pPr marL="320040" indent="-320040" algn="l">
              <a:lnSpc>
                <a:spcPct val="100000"/>
              </a:lnSpc>
              <a:spcAft>
                <a:spcPts val="600"/>
              </a:spcAft>
              <a:buSzPct val="100000"/>
              <a:buChar char="→"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Validations — </a:t>
            </a:r>
            <a:r>
              <a:rPr lang="en-US" sz="100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name, age, field rules</a:t>
            </a:r>
            <a:endParaRPr lang="en-US" sz="1150"/>
          </a:p>
        </p:txBody>
      </p:sp>
      <p:sp>
        <p:nvSpPr>
          <p:cNvPr id="40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38144" y="1417320"/>
            <a:ext cx="2670048" cy="3246120"/>
          </a:xfrm>
          <a:prstGeom prst="rect">
            <a:avLst/>
          </a:prstGeom>
          <a:solidFill>
            <a:srgbClr val="10386A"/>
          </a:solidFill>
          <a:ln w="12700">
            <a:solidFill>
              <a:srgbClr val="1C9FB4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fl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38144" y="1417320"/>
            <a:ext cx="2670048" cy="91440"/>
          </a:xfrm>
          <a:prstGeom prst="rect">
            <a:avLst/>
          </a:prstGeom>
          <a:solidFill>
            <a:srgbClr val="56D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639312" y="1655064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00" b="1">
                <a:solidFill>
                  <a:srgbClr val="56D0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</a:t>
            </a:r>
            <a:r>
              <a:rPr lang="en-US" sz="13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 &amp; Access</a:t>
            </a:r>
            <a:endParaRPr lang="en-US" sz="1300"/>
          </a:p>
        </p:txBody>
      </p:sp>
      <p:sp>
        <p:nvSpPr>
          <p:cNvPr id="43" name="Text 41"/>
          <p:cNvSpPr/>
          <p:nvPr/>
        </p:nvSpPr>
        <p:spPr>
          <a:xfrm>
            <a:off x="3639312" y="2167128"/>
            <a:ext cx="2267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>
                <a:solidFill>
                  <a:srgbClr val="3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· status · auth · admin</a:t>
            </a:r>
            <a:endParaRPr lang="en-US" sz="1100"/>
          </a:p>
        </p:txBody>
      </p:sp>
      <p:sp>
        <p:nvSpPr>
          <p:cNvPr id="44" name="Text 42"/>
          <p:cNvSpPr/>
          <p:nvPr/>
        </p:nvSpPr>
        <p:spPr>
          <a:xfrm>
            <a:off x="3657600" y="2514600"/>
            <a:ext cx="22494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20040" indent="-320040" algn="l">
              <a:lnSpc>
                <a:spcPct val="100000"/>
              </a:lnSpc>
              <a:spcAft>
                <a:spcPts val="600"/>
              </a:spcAft>
              <a:buSzPct val="100000"/>
              <a:buChar char="→"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areas — </a:t>
            </a:r>
            <a:r>
              <a:rPr lang="en-US" sz="100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tailored workspace per role</a:t>
            </a:r>
          </a:p>
          <a:p>
            <a:pPr marL="320040" indent="-320040" algn="l">
              <a:lnSpc>
                <a:spcPct val="100000"/>
              </a:lnSpc>
              <a:spcAft>
                <a:spcPts val="600"/>
              </a:spcAft>
              <a:buSzPct val="100000"/>
              <a:buChar char="→"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— </a:t>
            </a:r>
            <a:r>
              <a:rPr lang="en-US" sz="100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8-stage lifecycle , role-owned</a:t>
            </a:r>
          </a:p>
          <a:p>
            <a:pPr marL="320040" indent="-320040" algn="l">
              <a:lnSpc>
                <a:spcPct val="100000"/>
              </a:lnSpc>
              <a:spcAft>
                <a:spcPts val="600"/>
              </a:spcAft>
              <a:buSzPct val="100000"/>
              <a:buChar char="→"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— </a:t>
            </a:r>
            <a:r>
              <a:rPr lang="en-US" sz="100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login, strong user &amp; password</a:t>
            </a:r>
          </a:p>
          <a:p>
            <a:pPr marL="320040" indent="-320040" algn="l">
              <a:lnSpc>
                <a:spcPct val="100000"/>
              </a:lnSpc>
              <a:spcAft>
                <a:spcPts val="600"/>
              </a:spcAft>
              <a:buSzPct val="100000"/>
              <a:buChar char="→"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CRUD — </a:t>
            </a:r>
            <a:r>
              <a:rPr lang="en-US" sz="100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&amp; enterprise admin control</a:t>
            </a:r>
          </a:p>
          <a:p>
            <a:pPr marL="320040" indent="-320040" algn="l">
              <a:lnSpc>
                <a:spcPct val="100000"/>
              </a:lnSpc>
              <a:spcAft>
                <a:spcPts val="600"/>
              </a:spcAft>
              <a:buSzPct val="100000"/>
              <a:buChar char="→"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UX — </a:t>
            </a:r>
            <a:r>
              <a:rPr lang="en-US" sz="100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aligned interface</a:t>
            </a:r>
            <a:endParaRPr lang="en-US" sz="1150"/>
          </a:p>
        </p:txBody>
      </p:sp>
      <p:sp>
        <p:nvSpPr>
          <p:cNvPr id="45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73368" y="1417320"/>
            <a:ext cx="2670048" cy="3246120"/>
          </a:xfrm>
          <a:prstGeom prst="rect">
            <a:avLst/>
          </a:prstGeom>
          <a:solidFill>
            <a:srgbClr val="10386A"/>
          </a:solidFill>
          <a:ln w="12700">
            <a:solidFill>
              <a:srgbClr val="1C9FB4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fl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73368" y="1417320"/>
            <a:ext cx="2670048" cy="91440"/>
          </a:xfrm>
          <a:prstGeom prst="rect">
            <a:avLst/>
          </a:prstGeom>
          <a:solidFill>
            <a:srgbClr val="F4A8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574536" y="1655064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00" b="1">
                <a:solidFill>
                  <a:srgbClr val="F4A8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</a:t>
            </a:r>
            <a:r>
              <a:rPr lang="en-US" sz="13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Quality &amp; Extras</a:t>
            </a:r>
            <a:endParaRPr lang="en-US" sz="1300"/>
          </a:p>
        </p:txBody>
      </p:sp>
      <p:sp>
        <p:nvSpPr>
          <p:cNvPr id="48" name="Text 46"/>
          <p:cNvSpPr/>
          <p:nvPr/>
        </p:nvSpPr>
        <p:spPr>
          <a:xfrm>
            <a:off x="6574536" y="2167128"/>
            <a:ext cx="2267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>
                <a:solidFill>
                  <a:srgbClr val="3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· seed data · robustness</a:t>
            </a:r>
            <a:endParaRPr lang="en-US" sz="1100"/>
          </a:p>
        </p:txBody>
      </p:sp>
      <p:sp>
        <p:nvSpPr>
          <p:cNvPr id="49" name="Text 47"/>
          <p:cNvSpPr/>
          <p:nvPr/>
        </p:nvSpPr>
        <p:spPr>
          <a:xfrm>
            <a:off x="6592824" y="2514600"/>
            <a:ext cx="22494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20040" indent="-320040" algn="l">
              <a:lnSpc>
                <a:spcPct val="100000"/>
              </a:lnSpc>
              <a:spcAft>
                <a:spcPts val="600"/>
              </a:spcAft>
              <a:buSzPct val="100000"/>
              <a:buChar char="→"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— </a:t>
            </a:r>
            <a:r>
              <a:rPr lang="en-US" sz="100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summarized system &amp; network view</a:t>
            </a:r>
          </a:p>
          <a:p>
            <a:pPr marL="320040" indent="-320040" algn="l">
              <a:lnSpc>
                <a:spcPct val="100000"/>
              </a:lnSpc>
              <a:spcAft>
                <a:spcPts val="600"/>
              </a:spcAft>
              <a:buSzPct val="100000"/>
              <a:buChar char="→"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data — </a:t>
            </a:r>
            <a:r>
              <a:rPr lang="en-US" sz="100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Faker for demo &amp; analytics</a:t>
            </a:r>
          </a:p>
          <a:p>
            <a:pPr marL="320040" indent="-320040" algn="l">
              <a:lnSpc>
                <a:spcPct val="100000"/>
              </a:lnSpc>
              <a:spcAft>
                <a:spcPts val="600"/>
              </a:spcAft>
              <a:buSzPct val="100000"/>
              <a:buChar char="→"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— </a:t>
            </a:r>
            <a:r>
              <a:rPr lang="en-US" sz="100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&amp; NULL checks, no errors</a:t>
            </a:r>
          </a:p>
          <a:p>
            <a:pPr marL="320040" indent="-320040" algn="l">
              <a:lnSpc>
                <a:spcPct val="100000"/>
              </a:lnSpc>
              <a:spcAft>
                <a:spcPts val="600"/>
              </a:spcAft>
              <a:buSzPct val="100000"/>
              <a:buChar char="→"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— </a:t>
            </a:r>
            <a:r>
              <a:rPr lang="en-US" sz="100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mail, AI, maps, SMS, APIs (a plus)</a:t>
            </a:r>
          </a:p>
          <a:p>
            <a:pPr marL="320040" indent="-320040" algn="l">
              <a:lnSpc>
                <a:spcPct val="100000"/>
              </a:lnSpc>
              <a:spcAft>
                <a:spcPts val="600"/>
              </a:spcAft>
              <a:buSzPct val="100000"/>
              <a:buChar char="→"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— </a:t>
            </a:r>
            <a:r>
              <a:rPr lang="en-US" sz="100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any DB or structured store</a:t>
            </a:r>
            <a:endParaRPr lang="en-US" sz="1150"/>
          </a:p>
        </p:txBody>
      </p:sp>
    </p:spTree>
    <p:extLst>
      <p:ext uri="{BB962C8B-B14F-4D97-AF65-F5344CB8AC3E}">
        <p14:creationId xmlns:p14="http://schemas.microsoft.com/office/powerpoint/2010/main" val="35867123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eet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6032" y="256032"/>
            <a:ext cx="8631936" cy="4631436"/>
          </a:xfrm>
          <a:prstGeom prst="rect">
            <a:avLst/>
          </a:prstGeom>
          <a:ln w="12700">
            <a:solidFill>
              <a:srgbClr val="1C9F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2920" y="3657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>
                <a:solidFill>
                  <a:srgbClr val="3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SCOPE  ·  8 USE CASES</a:t>
            </a:r>
            <a:endParaRPr lang="en-US" sz="1100"/>
          </a:p>
        </p:txBody>
      </p:sp>
      <p:sp>
        <p:nvSpPr>
          <p:cNvPr id="3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60350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2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cases that exercise the whole design</a:t>
            </a:r>
            <a:endParaRPr lang="en-US" sz="220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9589348"/>
              </p:ext>
            </p:extLst>
          </p:nvPr>
        </p:nvGraphicFramePr>
        <p:xfrm>
          <a:off x="502920" y="1417320"/>
          <a:ext cx="8138160" cy="3237992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</a:t>
                      </a:r>
                      <a:endParaRPr lang="en-US" sz="105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9FB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 CASE</a:t>
                      </a:r>
                      <a:endParaRPr lang="en-US" sz="105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9FB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PRIMARY ROLE</a:t>
                      </a:r>
                      <a:endParaRPr lang="en-US" sz="105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9FB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ENTERPRISE</a:t>
                      </a:r>
                      <a:endParaRPr lang="en-US" sz="105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9FB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STATUS →</a:t>
                      </a:r>
                      <a:endParaRPr lang="en-US" sz="105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9F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37D2E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UC01</a:t>
                      </a:r>
                      <a:endParaRPr lang="en-US" sz="105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D6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&amp; production kickoff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D6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Manager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D6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Manufacturer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D6E6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ordered → built</a:t>
                      </a:r>
                      <a:endParaRPr lang="en-US" sz="105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37D2E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UC02</a:t>
                      </a:r>
                      <a:endParaRPr lang="en-US" sz="105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D6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inspection &amp; release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D6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Inspector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D6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Manufacturer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D6E6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built → released</a:t>
                      </a:r>
                      <a:endParaRPr lang="en-US" sz="105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37D2E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UC03</a:t>
                      </a:r>
                      <a:endParaRPr lang="en-US" sz="105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D6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Inbound parts receipt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D6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Warehouse Clerk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D6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Parts Supplier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D6E6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part linked to VIN</a:t>
                      </a:r>
                      <a:endParaRPr lang="en-US" sz="105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37D2E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UC04</a:t>
                      </a:r>
                      <a:endParaRPr lang="en-US" sz="105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D6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Cross-border dispatch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D6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Logistics Coordinator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D6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Parts Supplier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D6E6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→ shipped</a:t>
                      </a:r>
                      <a:endParaRPr lang="en-US" sz="105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37D2E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UC05</a:t>
                      </a:r>
                      <a:endParaRPr lang="en-US" sz="105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D6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 sale &amp; registration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D6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Rep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D6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Dealership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D6E6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shipped → sold</a:t>
                      </a:r>
                      <a:endParaRPr lang="en-US" sz="105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37D2E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UC06</a:t>
                      </a:r>
                      <a:endParaRPr lang="en-US" sz="105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D6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appointment &amp; repair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D6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Technician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D6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Dealership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D6E6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→ in-service</a:t>
                      </a:r>
                      <a:endParaRPr lang="en-US" sz="105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37D2E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UC07</a:t>
                      </a:r>
                      <a:endParaRPr lang="en-US" sz="105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D6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Work-order approval &amp; warranty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D6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Manager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D6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Dealership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D6E6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warranty claim</a:t>
                      </a:r>
                      <a:endParaRPr lang="en-US" sz="105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eet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6032" y="256032"/>
            <a:ext cx="8631936" cy="4631436"/>
          </a:xfrm>
          <a:prstGeom prst="rect">
            <a:avLst/>
          </a:prstGeom>
          <a:ln w="12700">
            <a:solidFill>
              <a:srgbClr val="1C9F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2920" y="3657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>
                <a:solidFill>
                  <a:srgbClr val="3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CASE FLOWS  ·  CROSS-ENTERPRISE HANDOFFS</a:t>
            </a:r>
            <a:endParaRPr lang="en-US" sz="1100"/>
          </a:p>
        </p:txBody>
      </p:sp>
      <p:sp>
        <p:nvSpPr>
          <p:cNvPr id="3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30852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1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end-to-end use cases that move status across borders</a:t>
            </a:r>
            <a:endParaRPr lang="en-US" sz="2100"/>
          </a:p>
        </p:txBody>
      </p:sp>
      <p:sp>
        <p:nvSpPr>
          <p:cNvPr id="35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2064" y="1463040"/>
            <a:ext cx="3960106" cy="3246120"/>
          </a:xfrm>
          <a:prstGeom prst="rect">
            <a:avLst/>
          </a:prstGeom>
          <a:solidFill>
            <a:srgbClr val="10386A"/>
          </a:solidFill>
          <a:ln w="12700">
            <a:solidFill>
              <a:srgbClr val="1C9FB4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fl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17320"/>
            <a:ext cx="3960106" cy="91440"/>
          </a:xfrm>
          <a:prstGeom prst="rect">
            <a:avLst/>
          </a:prstGeom>
          <a:solidFill>
            <a:srgbClr val="37D2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04088" y="1655064"/>
            <a:ext cx="33633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00" b="1">
                <a:solidFill>
                  <a:srgbClr val="3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UC1   </a:t>
            </a:r>
            <a:r>
              <a:rPr lang="en-US" sz="13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 Order &amp; Global Fulfillment</a:t>
            </a:r>
            <a:endParaRPr lang="en-US" sz="1300"/>
          </a:p>
        </p:txBody>
      </p:sp>
      <p:sp>
        <p:nvSpPr>
          <p:cNvPr id="38" name="Text 36"/>
          <p:cNvSpPr/>
          <p:nvPr/>
        </p:nvSpPr>
        <p:spPr>
          <a:xfrm>
            <a:off x="704088" y="2167128"/>
            <a:ext cx="33633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>
                <a:solidFill>
                  <a:srgbClr val="3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Supply Chain · US → DE</a:t>
            </a:r>
            <a:endParaRPr lang="en-US" sz="1100"/>
          </a:p>
        </p:txBody>
      </p:sp>
      <p:sp>
        <p:nvSpPr>
          <p:cNvPr id="39" name="Text 37"/>
          <p:cNvSpPr/>
          <p:nvPr/>
        </p:nvSpPr>
        <p:spPr>
          <a:xfrm>
            <a:off x="722376" y="2514600"/>
            <a:ext cx="333625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0000"/>
              </a:lnSpc>
              <a:spcAft>
                <a:spcPts val="800"/>
              </a:spcAft>
              <a:buSzPct val="100000"/>
              <a:buChar char="→"/>
            </a:pPr>
            <a:r>
              <a:rPr lang="en-US" sz="115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customer configures a custom order including VIN</a:t>
            </a:r>
          </a:p>
          <a:p>
            <a:pPr marL="342900" indent="-342900" algn="l">
              <a:lnSpc>
                <a:spcPct val="100000"/>
              </a:lnSpc>
              <a:spcAft>
                <a:spcPts val="800"/>
              </a:spcAft>
              <a:buSzPct val="100000"/>
              <a:buChar char="→"/>
            </a:pPr>
            <a:r>
              <a:rPr lang="en-US" sz="115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scheduled at the German plant</a:t>
            </a:r>
          </a:p>
          <a:p>
            <a:pPr marL="342900" indent="-342900">
              <a:spcAft>
                <a:spcPts val="800"/>
              </a:spcAft>
              <a:buSzPct val="100000"/>
              <a:buChar char="→"/>
            </a:pPr>
            <a:r>
              <a:rPr lang="en-US" sz="115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the manufacture build </a:t>
            </a:r>
          </a:p>
          <a:p>
            <a:pPr marL="342900" indent="-342900">
              <a:spcAft>
                <a:spcPts val="800"/>
              </a:spcAft>
              <a:buSzPct val="100000"/>
              <a:buChar char="→"/>
            </a:pPr>
            <a:r>
              <a:rPr lang="en-US" sz="115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tracking of workflows </a:t>
            </a:r>
          </a:p>
          <a:p>
            <a:pPr marL="342900" indent="-342900">
              <a:spcAft>
                <a:spcPts val="800"/>
              </a:spcAft>
              <a:buSzPct val="100000"/>
              <a:buChar char="→"/>
            </a:pPr>
            <a:r>
              <a:rPr lang="en-US" sz="115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 sent once completed</a:t>
            </a:r>
            <a:endParaRPr lang="en-US" sz="1150"/>
          </a:p>
          <a:p>
            <a:pPr marL="342900" indent="-342900" algn="l">
              <a:lnSpc>
                <a:spcPct val="100000"/>
              </a:lnSpc>
              <a:spcAft>
                <a:spcPts val="800"/>
              </a:spcAft>
              <a:buSzPct val="100000"/>
              <a:buChar char="→"/>
            </a:pPr>
            <a:endParaRPr lang="en-US" sz="1150">
              <a:solidFill>
                <a:srgbClr val="D6E6F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5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29369" y="1417320"/>
            <a:ext cx="3757431" cy="3246120"/>
          </a:xfrm>
          <a:prstGeom prst="rect">
            <a:avLst/>
          </a:prstGeom>
          <a:solidFill>
            <a:srgbClr val="10386A"/>
          </a:solidFill>
          <a:ln w="12700">
            <a:solidFill>
              <a:srgbClr val="1C9FB4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fl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29369" y="1417320"/>
            <a:ext cx="3757431" cy="91440"/>
          </a:xfrm>
          <a:prstGeom prst="rect">
            <a:avLst/>
          </a:prstGeom>
          <a:solidFill>
            <a:srgbClr val="F4A8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294389" y="1655064"/>
            <a:ext cx="319124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00" b="1">
                <a:solidFill>
                  <a:srgbClr val="F4A8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UC3   </a:t>
            </a:r>
            <a:r>
              <a:rPr lang="en-US" sz="13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Lifecycle, Parts &amp; Trade-In</a:t>
            </a:r>
            <a:endParaRPr lang="en-US" sz="1300"/>
          </a:p>
        </p:txBody>
      </p:sp>
      <p:sp>
        <p:nvSpPr>
          <p:cNvPr id="48" name="Text 46"/>
          <p:cNvSpPr/>
          <p:nvPr/>
        </p:nvSpPr>
        <p:spPr>
          <a:xfrm>
            <a:off x="5294389" y="2167128"/>
            <a:ext cx="31912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>
                <a:solidFill>
                  <a:srgbClr val="3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Post-Warranty Service · Global</a:t>
            </a:r>
            <a:endParaRPr lang="en-US" sz="1100"/>
          </a:p>
        </p:txBody>
      </p:sp>
      <p:sp>
        <p:nvSpPr>
          <p:cNvPr id="49" name="Text 47"/>
          <p:cNvSpPr/>
          <p:nvPr/>
        </p:nvSpPr>
        <p:spPr>
          <a:xfrm>
            <a:off x="5320125" y="2514600"/>
            <a:ext cx="3165507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0000"/>
              </a:lnSpc>
              <a:spcAft>
                <a:spcPts val="800"/>
              </a:spcAft>
              <a:buSzPct val="100000"/>
              <a:buChar char="→"/>
            </a:pPr>
            <a:r>
              <a:rPr lang="en-US" sz="115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maintenance loop begins</a:t>
            </a:r>
          </a:p>
          <a:p>
            <a:pPr marL="342900" indent="-342900" algn="l">
              <a:lnSpc>
                <a:spcPct val="100000"/>
              </a:lnSpc>
              <a:spcAft>
                <a:spcPts val="800"/>
              </a:spcAft>
              <a:buSzPct val="100000"/>
              <a:buChar char="→"/>
            </a:pPr>
            <a:r>
              <a:rPr lang="en-US" sz="115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parts flow across borders</a:t>
            </a:r>
          </a:p>
          <a:p>
            <a:pPr marL="342900" indent="-342900" algn="l">
              <a:lnSpc>
                <a:spcPct val="100000"/>
              </a:lnSpc>
              <a:spcAft>
                <a:spcPts val="800"/>
              </a:spcAft>
              <a:buSzPct val="100000"/>
              <a:buChar char="→"/>
            </a:pPr>
            <a:r>
              <a:rPr lang="en-US" sz="115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kept in service</a:t>
            </a:r>
          </a:p>
          <a:p>
            <a:pPr marL="342900" indent="-342900" algn="l">
              <a:lnSpc>
                <a:spcPct val="100000"/>
              </a:lnSpc>
              <a:spcAft>
                <a:spcPts val="800"/>
              </a:spcAft>
              <a:buSzPct val="100000"/>
              <a:buChar char="→"/>
            </a:pPr>
            <a:r>
              <a:rPr lang="en-US" sz="115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Trade-in enables a second life</a:t>
            </a:r>
            <a:endParaRPr lang="en-US" sz="11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eet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6032" y="256032"/>
            <a:ext cx="8631936" cy="4631436"/>
          </a:xfrm>
          <a:prstGeom prst="rect">
            <a:avLst/>
          </a:prstGeom>
          <a:ln w="12700">
            <a:solidFill>
              <a:srgbClr val="1C9F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2920" y="3657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>
                <a:solidFill>
                  <a:srgbClr val="3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EACH ENTERPRISE IS ESSENTIAL</a:t>
            </a:r>
            <a:endParaRPr lang="en-US" sz="1100"/>
          </a:p>
        </p:txBody>
      </p:sp>
      <p:sp>
        <p:nvSpPr>
          <p:cNvPr id="3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60350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4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 any one enterprise and value collapses</a:t>
            </a:r>
            <a:endParaRPr lang="en-US" sz="2400"/>
          </a:p>
        </p:txBody>
      </p:sp>
      <p:sp>
        <p:nvSpPr>
          <p:cNvPr id="35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2670048" cy="2926080"/>
          </a:xfrm>
          <a:prstGeom prst="rect">
            <a:avLst/>
          </a:prstGeom>
          <a:solidFill>
            <a:srgbClr val="10386A"/>
          </a:solidFill>
          <a:ln w="12700">
            <a:solidFill>
              <a:srgbClr val="1C9FB4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128016" cy="0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0" cy="128016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4952" y="4443984"/>
            <a:ext cx="128016" cy="0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72968" y="4315968"/>
            <a:ext cx="0" cy="128016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04088" y="171907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3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600"/>
          </a:p>
        </p:txBody>
      </p:sp>
      <p:sp>
        <p:nvSpPr>
          <p:cNvPr id="41" name="Text 39"/>
          <p:cNvSpPr/>
          <p:nvPr/>
        </p:nvSpPr>
        <p:spPr>
          <a:xfrm>
            <a:off x="704088" y="2267712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MANUFACTURER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5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GERMANY</a:t>
            </a:r>
            <a:endParaRPr lang="en-US" sz="1500"/>
          </a:p>
        </p:txBody>
      </p:sp>
      <p:sp>
        <p:nvSpPr>
          <p:cNvPr id="42" name="Text 40"/>
          <p:cNvSpPr/>
          <p:nvPr/>
        </p:nvSpPr>
        <p:spPr>
          <a:xfrm>
            <a:off x="704088" y="3090672"/>
            <a:ext cx="22677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identity — issues the VIN at build. Without it there is no key to join on and no source of truth for defects.</a:t>
            </a:r>
            <a:endParaRPr lang="en-US" sz="1250"/>
          </a:p>
        </p:txBody>
      </p:sp>
      <p:sp>
        <p:nvSpPr>
          <p:cNvPr id="43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38144" y="1517904"/>
            <a:ext cx="2670048" cy="2926080"/>
          </a:xfrm>
          <a:prstGeom prst="rect">
            <a:avLst/>
          </a:prstGeom>
          <a:solidFill>
            <a:srgbClr val="10386A"/>
          </a:solidFill>
          <a:ln w="12700">
            <a:solidFill>
              <a:srgbClr val="1C9FB4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38144" y="1517904"/>
            <a:ext cx="128016" cy="0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38144" y="1517904"/>
            <a:ext cx="0" cy="128016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80176" y="4443984"/>
            <a:ext cx="128016" cy="0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08192" y="4315968"/>
            <a:ext cx="0" cy="128016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639312" y="171907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3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600"/>
          </a:p>
        </p:txBody>
      </p:sp>
      <p:sp>
        <p:nvSpPr>
          <p:cNvPr id="49" name="Text 47"/>
          <p:cNvSpPr/>
          <p:nvPr/>
        </p:nvSpPr>
        <p:spPr>
          <a:xfrm>
            <a:off x="3639312" y="2267712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DEALERSHIP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5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UNITED STATES</a:t>
            </a:r>
            <a:endParaRPr lang="en-US" sz="1500"/>
          </a:p>
        </p:txBody>
      </p:sp>
      <p:sp>
        <p:nvSpPr>
          <p:cNvPr id="50" name="Text 48"/>
          <p:cNvSpPr/>
          <p:nvPr/>
        </p:nvSpPr>
        <p:spPr>
          <a:xfrm>
            <a:off x="3639312" y="3090672"/>
            <a:ext cx="22677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customer and the in-service vehicle — sales records,and  work orders, . Without it there is no sale, no service history, no way to reach owners.</a:t>
            </a:r>
            <a:endParaRPr lang="en-US" sz="1250"/>
          </a:p>
        </p:txBody>
      </p:sp>
      <p:sp>
        <p:nvSpPr>
          <p:cNvPr id="51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73368" y="1517904"/>
            <a:ext cx="2670048" cy="2926080"/>
          </a:xfrm>
          <a:prstGeom prst="rect">
            <a:avLst/>
          </a:prstGeom>
          <a:solidFill>
            <a:srgbClr val="10386A"/>
          </a:solidFill>
          <a:ln w="12700">
            <a:solidFill>
              <a:srgbClr val="1C9FB4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73368" y="1517904"/>
            <a:ext cx="128016" cy="0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73368" y="1517904"/>
            <a:ext cx="0" cy="128016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15400" y="4443984"/>
            <a:ext cx="128016" cy="0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43416" y="4315968"/>
            <a:ext cx="0" cy="128016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574536" y="171907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3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600"/>
          </a:p>
        </p:txBody>
      </p:sp>
      <p:sp>
        <p:nvSpPr>
          <p:cNvPr id="57" name="Text 55"/>
          <p:cNvSpPr/>
          <p:nvPr/>
        </p:nvSpPr>
        <p:spPr>
          <a:xfrm>
            <a:off x="6574536" y="2267712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PARTS &amp;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5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LOGISTICS</a:t>
            </a:r>
            <a:endParaRPr lang="en-US" sz="1500"/>
          </a:p>
        </p:txBody>
      </p:sp>
      <p:sp>
        <p:nvSpPr>
          <p:cNvPr id="58" name="Text 56"/>
          <p:cNvSpPr/>
          <p:nvPr/>
        </p:nvSpPr>
        <p:spPr>
          <a:xfrm>
            <a:off x="6574536" y="3090672"/>
            <a:ext cx="22677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the right parts across borders against the VIN's bill of materials. Without it builds and repairs stall can't be fulfilled.</a:t>
            </a:r>
            <a:endParaRPr lang="en-US" sz="12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D09EE-02D2-1205-6BD1-562E58CC9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 v">
            <a:extLst>
              <a:ext uri="{FF2B5EF4-FFF2-40B4-BE49-F238E27FC236}">
                <a16:creationId xmlns:a16="http://schemas.microsoft.com/office/drawing/2014/main" id="{BB41CB25-5DE1-5A3A-5A40-7411F844E8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grid v">
            <a:extLst>
              <a:ext uri="{FF2B5EF4-FFF2-40B4-BE49-F238E27FC236}">
                <a16:creationId xmlns:a16="http://schemas.microsoft.com/office/drawing/2014/main" id="{CB6E5A24-D097-6CD0-196D-A9654CBD0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grid v">
            <a:extLst>
              <a:ext uri="{FF2B5EF4-FFF2-40B4-BE49-F238E27FC236}">
                <a16:creationId xmlns:a16="http://schemas.microsoft.com/office/drawing/2014/main" id="{E3B7598C-6C35-E609-D483-B926EFD992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grid v">
            <a:extLst>
              <a:ext uri="{FF2B5EF4-FFF2-40B4-BE49-F238E27FC236}">
                <a16:creationId xmlns:a16="http://schemas.microsoft.com/office/drawing/2014/main" id="{0DCFF89F-9B42-64E3-A764-FBC9F1377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grid v">
            <a:extLst>
              <a:ext uri="{FF2B5EF4-FFF2-40B4-BE49-F238E27FC236}">
                <a16:creationId xmlns:a16="http://schemas.microsoft.com/office/drawing/2014/main" id="{D2D8638B-D569-A5BE-FBF0-EC644EE49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grid v">
            <a:extLst>
              <a:ext uri="{FF2B5EF4-FFF2-40B4-BE49-F238E27FC236}">
                <a16:creationId xmlns:a16="http://schemas.microsoft.com/office/drawing/2014/main" id="{C126BA94-4F36-4A74-87E0-257A11DC9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grid v">
            <a:extLst>
              <a:ext uri="{FF2B5EF4-FFF2-40B4-BE49-F238E27FC236}">
                <a16:creationId xmlns:a16="http://schemas.microsoft.com/office/drawing/2014/main" id="{CBF055FE-F19F-C3EF-BA46-91E69D565E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grid v">
            <a:extLst>
              <a:ext uri="{FF2B5EF4-FFF2-40B4-BE49-F238E27FC236}">
                <a16:creationId xmlns:a16="http://schemas.microsoft.com/office/drawing/2014/main" id="{777BE1EB-9747-3A25-7B52-1B8E580B09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grid v">
            <a:extLst>
              <a:ext uri="{FF2B5EF4-FFF2-40B4-BE49-F238E27FC236}">
                <a16:creationId xmlns:a16="http://schemas.microsoft.com/office/drawing/2014/main" id="{2516CF96-EEB8-4454-5675-0885A968C5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grid v">
            <a:extLst>
              <a:ext uri="{FF2B5EF4-FFF2-40B4-BE49-F238E27FC236}">
                <a16:creationId xmlns:a16="http://schemas.microsoft.com/office/drawing/2014/main" id="{28C345F9-1E9A-7034-12BB-C4DE4F609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grid v">
            <a:extLst>
              <a:ext uri="{FF2B5EF4-FFF2-40B4-BE49-F238E27FC236}">
                <a16:creationId xmlns:a16="http://schemas.microsoft.com/office/drawing/2014/main" id="{B38577AA-DD94-2BF6-9766-35EB8B5EB3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grid v">
            <a:extLst>
              <a:ext uri="{FF2B5EF4-FFF2-40B4-BE49-F238E27FC236}">
                <a16:creationId xmlns:a16="http://schemas.microsoft.com/office/drawing/2014/main" id="{71F99A32-B320-BFEA-A653-78478C6E76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grid v">
            <a:extLst>
              <a:ext uri="{FF2B5EF4-FFF2-40B4-BE49-F238E27FC236}">
                <a16:creationId xmlns:a16="http://schemas.microsoft.com/office/drawing/2014/main" id="{1F5E801E-A794-49BD-9F5F-323BA85983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grid v">
            <a:extLst>
              <a:ext uri="{FF2B5EF4-FFF2-40B4-BE49-F238E27FC236}">
                <a16:creationId xmlns:a16="http://schemas.microsoft.com/office/drawing/2014/main" id="{E167830E-C990-9BC5-3FFE-DF3F247E2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grid v">
            <a:extLst>
              <a:ext uri="{FF2B5EF4-FFF2-40B4-BE49-F238E27FC236}">
                <a16:creationId xmlns:a16="http://schemas.microsoft.com/office/drawing/2014/main" id="{E54D6760-197C-8D32-7DF0-0EC0B1B7B5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grid v">
            <a:extLst>
              <a:ext uri="{FF2B5EF4-FFF2-40B4-BE49-F238E27FC236}">
                <a16:creationId xmlns:a16="http://schemas.microsoft.com/office/drawing/2014/main" id="{9BA373F4-2E63-CEBF-3455-B28EC5F499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grid v">
            <a:extLst>
              <a:ext uri="{FF2B5EF4-FFF2-40B4-BE49-F238E27FC236}">
                <a16:creationId xmlns:a16="http://schemas.microsoft.com/office/drawing/2014/main" id="{69D3A990-9336-A056-FEDF-F05D429FB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grid v">
            <a:extLst>
              <a:ext uri="{FF2B5EF4-FFF2-40B4-BE49-F238E27FC236}">
                <a16:creationId xmlns:a16="http://schemas.microsoft.com/office/drawing/2014/main" id="{5E273AA7-5714-1DA0-7874-0FBA8A2E6B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grid v">
            <a:extLst>
              <a:ext uri="{FF2B5EF4-FFF2-40B4-BE49-F238E27FC236}">
                <a16:creationId xmlns:a16="http://schemas.microsoft.com/office/drawing/2014/main" id="{E0778036-AA09-D61E-D516-CA0721495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grid h">
            <a:extLst>
              <a:ext uri="{FF2B5EF4-FFF2-40B4-BE49-F238E27FC236}">
                <a16:creationId xmlns:a16="http://schemas.microsoft.com/office/drawing/2014/main" id="{2B8B5244-F4D2-6287-1580-0147BC971C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grid h">
            <a:extLst>
              <a:ext uri="{FF2B5EF4-FFF2-40B4-BE49-F238E27FC236}">
                <a16:creationId xmlns:a16="http://schemas.microsoft.com/office/drawing/2014/main" id="{56B7E739-BE01-9DFC-0001-2E07973AA5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grid h">
            <a:extLst>
              <a:ext uri="{FF2B5EF4-FFF2-40B4-BE49-F238E27FC236}">
                <a16:creationId xmlns:a16="http://schemas.microsoft.com/office/drawing/2014/main" id="{7D46A6AC-A925-D1FD-5BA7-FFAEF12C0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grid h">
            <a:extLst>
              <a:ext uri="{FF2B5EF4-FFF2-40B4-BE49-F238E27FC236}">
                <a16:creationId xmlns:a16="http://schemas.microsoft.com/office/drawing/2014/main" id="{939D2232-DE31-A87D-B186-AF3816777B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grid h">
            <a:extLst>
              <a:ext uri="{FF2B5EF4-FFF2-40B4-BE49-F238E27FC236}">
                <a16:creationId xmlns:a16="http://schemas.microsoft.com/office/drawing/2014/main" id="{0EE641EB-0D17-7AFC-0668-B5F43C047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grid h">
            <a:extLst>
              <a:ext uri="{FF2B5EF4-FFF2-40B4-BE49-F238E27FC236}">
                <a16:creationId xmlns:a16="http://schemas.microsoft.com/office/drawing/2014/main" id="{58D25E58-02C4-100B-31B0-645A79B2FE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grid h">
            <a:extLst>
              <a:ext uri="{FF2B5EF4-FFF2-40B4-BE49-F238E27FC236}">
                <a16:creationId xmlns:a16="http://schemas.microsoft.com/office/drawing/2014/main" id="{BF6303E8-727C-9914-C4BE-57B89A198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grid h">
            <a:extLst>
              <a:ext uri="{FF2B5EF4-FFF2-40B4-BE49-F238E27FC236}">
                <a16:creationId xmlns:a16="http://schemas.microsoft.com/office/drawing/2014/main" id="{45B6A177-3017-B176-3311-AFBA94D62A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grid h">
            <a:extLst>
              <a:ext uri="{FF2B5EF4-FFF2-40B4-BE49-F238E27FC236}">
                <a16:creationId xmlns:a16="http://schemas.microsoft.com/office/drawing/2014/main" id="{D8E9A026-2595-BEAD-657F-90699A378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grid h">
            <a:extLst>
              <a:ext uri="{FF2B5EF4-FFF2-40B4-BE49-F238E27FC236}">
                <a16:creationId xmlns:a16="http://schemas.microsoft.com/office/drawing/2014/main" id="{354DCB77-F552-FF26-CA0B-6F4382EB8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grid h">
            <a:extLst>
              <a:ext uri="{FF2B5EF4-FFF2-40B4-BE49-F238E27FC236}">
                <a16:creationId xmlns:a16="http://schemas.microsoft.com/office/drawing/2014/main" id="{402480B3-D402-5F14-76CE-F8DC191A6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eet frame">
            <a:extLst>
              <a:ext uri="{FF2B5EF4-FFF2-40B4-BE49-F238E27FC236}">
                <a16:creationId xmlns:a16="http://schemas.microsoft.com/office/drawing/2014/main" id="{EA30A034-018A-61B4-ED6F-97E9412CE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6032" y="256032"/>
            <a:ext cx="8631936" cy="4631436"/>
          </a:xfrm>
          <a:prstGeom prst="rect">
            <a:avLst/>
          </a:prstGeom>
          <a:ln w="12700">
            <a:solidFill>
              <a:srgbClr val="1C9F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9D3F1BA7-D5FD-36E0-E28B-09A5F2CE5095}"/>
              </a:ext>
            </a:extLst>
          </p:cNvPr>
          <p:cNvSpPr/>
          <p:nvPr/>
        </p:nvSpPr>
        <p:spPr>
          <a:xfrm>
            <a:off x="502920" y="3657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>
                <a:solidFill>
                  <a:srgbClr val="3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ASSIGNMENT COVERAGE</a:t>
            </a:r>
            <a:endParaRPr lang="en-US" sz="1100"/>
          </a:p>
        </p:txBody>
      </p:sp>
      <p:sp>
        <p:nvSpPr>
          <p:cNvPr id="34" name="Text 0">
            <a:extLst>
              <a:ext uri="{FF2B5EF4-FFF2-40B4-BE49-F238E27FC236}">
                <a16:creationId xmlns:a16="http://schemas.microsoft.com/office/drawing/2014/main" id="{FDB07CFE-4261-CB5F-9204-93F6E343EE33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502920" y="60350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Consolas"/>
              </a:rPr>
              <a:t>Every implementation criterion, satisfied</a:t>
            </a:r>
            <a:endParaRPr lang="en-US" sz="2200">
              <a:solidFill>
                <a:srgbClr val="000000"/>
              </a:solidFill>
              <a:latin typeface="Consolas"/>
            </a:endParaRPr>
          </a:p>
          <a:p>
            <a:pPr algn="l"/>
            <a:endParaRPr lang="en-US" sz="2200" b="1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35" name="card">
            <a:extLst>
              <a:ext uri="{FF2B5EF4-FFF2-40B4-BE49-F238E27FC236}">
                <a16:creationId xmlns:a16="http://schemas.microsoft.com/office/drawing/2014/main" id="{27937797-69B5-FC69-28B0-A614EB9020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17320"/>
            <a:ext cx="4023360" cy="786384"/>
          </a:xfrm>
          <a:prstGeom prst="rect">
            <a:avLst/>
          </a:prstGeom>
          <a:solidFill>
            <a:srgbClr val="10386A"/>
          </a:solidFill>
          <a:ln w="12700">
            <a:solidFill>
              <a:srgbClr val="1C9FB4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9959B7FD-CEEF-17F9-C8C0-74E6892415D1}"/>
              </a:ext>
            </a:extLst>
          </p:cNvPr>
          <p:cNvSpPr/>
          <p:nvPr/>
        </p:nvSpPr>
        <p:spPr>
          <a:xfrm>
            <a:off x="667512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56D0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200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63F69BBD-552F-C2F2-C6E1-19F8B48D0D4E}"/>
              </a:ext>
            </a:extLst>
          </p:cNvPr>
          <p:cNvSpPr/>
          <p:nvPr/>
        </p:nvSpPr>
        <p:spPr>
          <a:xfrm>
            <a:off x="1161288" y="15270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3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 ID</a:t>
            </a:r>
            <a:endParaRPr lang="en-US" sz="130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8CA5A9F6-85F1-EE75-CE79-025EAB5BC27C}"/>
              </a:ext>
            </a:extLst>
          </p:cNvPr>
          <p:cNvSpPr/>
          <p:nvPr/>
        </p:nvSpPr>
        <p:spPr>
          <a:xfrm>
            <a:off x="1161288" y="17830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 assigned at build; join key across sales, service, parts,</a:t>
            </a:r>
            <a:endParaRPr lang="en-US" sz="1150"/>
          </a:p>
        </p:txBody>
      </p:sp>
      <p:sp>
        <p:nvSpPr>
          <p:cNvPr id="39" name="card">
            <a:extLst>
              <a:ext uri="{FF2B5EF4-FFF2-40B4-BE49-F238E27FC236}">
                <a16:creationId xmlns:a16="http://schemas.microsoft.com/office/drawing/2014/main" id="{73C33B44-DBB6-FD21-ADF9-11017105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82312" y="1417320"/>
            <a:ext cx="4023360" cy="786384"/>
          </a:xfrm>
          <a:prstGeom prst="rect">
            <a:avLst/>
          </a:prstGeom>
          <a:solidFill>
            <a:srgbClr val="10386A"/>
          </a:solidFill>
          <a:ln w="12700">
            <a:solidFill>
              <a:srgbClr val="1C9FB4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211EA1AC-BD39-3774-8724-9128762E87FB}"/>
              </a:ext>
            </a:extLst>
          </p:cNvPr>
          <p:cNvSpPr/>
          <p:nvPr/>
        </p:nvSpPr>
        <p:spPr>
          <a:xfrm>
            <a:off x="4946904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56D0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200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013B3366-9A6F-93EB-B56D-A549468D3DC9}"/>
              </a:ext>
            </a:extLst>
          </p:cNvPr>
          <p:cNvSpPr/>
          <p:nvPr/>
        </p:nvSpPr>
        <p:spPr>
          <a:xfrm>
            <a:off x="5440680" y="15270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3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management</a:t>
            </a:r>
            <a:endParaRPr lang="en-US" sz="130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4A11EA62-F8EC-D50D-EF5F-DB70E4B56B19}"/>
              </a:ext>
            </a:extLst>
          </p:cNvPr>
          <p:cNvSpPr/>
          <p:nvPr/>
        </p:nvSpPr>
        <p:spPr>
          <a:xfrm>
            <a:off x="5440680" y="17830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8-stage lifecycle (order → second life) on vehicles &amp; work orders, each transition role-owned.</a:t>
            </a:r>
            <a:endParaRPr lang="en-US" sz="1150"/>
          </a:p>
        </p:txBody>
      </p:sp>
      <p:sp>
        <p:nvSpPr>
          <p:cNvPr id="43" name="card">
            <a:extLst>
              <a:ext uri="{FF2B5EF4-FFF2-40B4-BE49-F238E27FC236}">
                <a16:creationId xmlns:a16="http://schemas.microsoft.com/office/drawing/2014/main" id="{28666EE4-EF7E-526D-31AB-FA323603C4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350008"/>
            <a:ext cx="4023360" cy="786384"/>
          </a:xfrm>
          <a:prstGeom prst="rect">
            <a:avLst/>
          </a:prstGeom>
          <a:solidFill>
            <a:srgbClr val="10386A"/>
          </a:solidFill>
          <a:ln w="12700">
            <a:solidFill>
              <a:srgbClr val="1C9FB4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EC7C203B-B655-8AF5-6EA2-ABC395A067B1}"/>
              </a:ext>
            </a:extLst>
          </p:cNvPr>
          <p:cNvSpPr/>
          <p:nvPr/>
        </p:nvSpPr>
        <p:spPr>
          <a:xfrm>
            <a:off x="667512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56D0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200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407AE02F-96FB-EB76-C81E-66996EFD3085}"/>
              </a:ext>
            </a:extLst>
          </p:cNvPr>
          <p:cNvSpPr/>
          <p:nvPr/>
        </p:nvSpPr>
        <p:spPr>
          <a:xfrm>
            <a:off x="1161288" y="24597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3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</a:t>
            </a:r>
            <a:endParaRPr lang="en-US" sz="130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B52074B5-4DD6-ABD6-1851-21B4B9B6DD6C}"/>
              </a:ext>
            </a:extLst>
          </p:cNvPr>
          <p:cNvSpPr/>
          <p:nvPr/>
        </p:nvSpPr>
        <p:spPr>
          <a:xfrm>
            <a:off x="1161288" y="27157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the Global Auto Ecosystem.</a:t>
            </a:r>
            <a:endParaRPr lang="en-US" sz="1150"/>
          </a:p>
        </p:txBody>
      </p:sp>
      <p:sp>
        <p:nvSpPr>
          <p:cNvPr id="47" name="card">
            <a:extLst>
              <a:ext uri="{FF2B5EF4-FFF2-40B4-BE49-F238E27FC236}">
                <a16:creationId xmlns:a16="http://schemas.microsoft.com/office/drawing/2014/main" id="{C8BCDC18-154A-B057-2F3B-825E80581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82312" y="2350008"/>
            <a:ext cx="4023360" cy="786384"/>
          </a:xfrm>
          <a:prstGeom prst="rect">
            <a:avLst/>
          </a:prstGeom>
          <a:solidFill>
            <a:srgbClr val="10386A"/>
          </a:solidFill>
          <a:ln w="12700">
            <a:solidFill>
              <a:srgbClr val="1C9FB4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31880E89-6B79-4E84-2B20-0344CD9FD06A}"/>
              </a:ext>
            </a:extLst>
          </p:cNvPr>
          <p:cNvSpPr/>
          <p:nvPr/>
        </p:nvSpPr>
        <p:spPr>
          <a:xfrm>
            <a:off x="4946904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56D0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2000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B4FBCB20-3920-8000-1C81-AF2833719BF2}"/>
              </a:ext>
            </a:extLst>
          </p:cNvPr>
          <p:cNvSpPr/>
          <p:nvPr/>
        </p:nvSpPr>
        <p:spPr>
          <a:xfrm>
            <a:off x="5440680" y="24597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3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Enterprises</a:t>
            </a:r>
            <a:endParaRPr lang="en-US" sz="130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40BAD997-D557-7C5B-BFB1-FA96AEC8BD54}"/>
              </a:ext>
            </a:extLst>
          </p:cNvPr>
          <p:cNvSpPr/>
          <p:nvPr/>
        </p:nvSpPr>
        <p:spPr>
          <a:xfrm>
            <a:off x="5440680" y="27157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separate legal entities: DE, US, MX / KR.</a:t>
            </a:r>
            <a:endParaRPr lang="en-US" sz="1150"/>
          </a:p>
        </p:txBody>
      </p:sp>
      <p:sp>
        <p:nvSpPr>
          <p:cNvPr id="51" name="card">
            <a:extLst>
              <a:ext uri="{FF2B5EF4-FFF2-40B4-BE49-F238E27FC236}">
                <a16:creationId xmlns:a16="http://schemas.microsoft.com/office/drawing/2014/main" id="{012B8680-2198-D42C-16E2-A47117356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282696"/>
            <a:ext cx="4023360" cy="786384"/>
          </a:xfrm>
          <a:prstGeom prst="rect">
            <a:avLst/>
          </a:prstGeom>
          <a:solidFill>
            <a:srgbClr val="10386A"/>
          </a:solidFill>
          <a:ln w="12700">
            <a:solidFill>
              <a:srgbClr val="1C9FB4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8B14E594-E9CC-68EC-BBF0-15AF30A97600}"/>
              </a:ext>
            </a:extLst>
          </p:cNvPr>
          <p:cNvSpPr/>
          <p:nvPr/>
        </p:nvSpPr>
        <p:spPr>
          <a:xfrm>
            <a:off x="667512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56D0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2000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8FE82F1F-0EFF-AB49-03AF-CC2F2C335490}"/>
              </a:ext>
            </a:extLst>
          </p:cNvPr>
          <p:cNvSpPr/>
          <p:nvPr/>
        </p:nvSpPr>
        <p:spPr>
          <a:xfrm>
            <a:off x="1161288" y="33924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3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Organizations</a:t>
            </a:r>
            <a:endParaRPr lang="en-US" sz="1300"/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5BC0AA47-1EEF-F3AA-A06B-1132FEEC743F}"/>
              </a:ext>
            </a:extLst>
          </p:cNvPr>
          <p:cNvSpPr/>
          <p:nvPr/>
        </p:nvSpPr>
        <p:spPr>
          <a:xfrm>
            <a:off x="1161288" y="364845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— two per enterprise.</a:t>
            </a:r>
            <a:endParaRPr lang="en-US" sz="1150"/>
          </a:p>
        </p:txBody>
      </p:sp>
      <p:sp>
        <p:nvSpPr>
          <p:cNvPr id="55" name="card">
            <a:extLst>
              <a:ext uri="{FF2B5EF4-FFF2-40B4-BE49-F238E27FC236}">
                <a16:creationId xmlns:a16="http://schemas.microsoft.com/office/drawing/2014/main" id="{A9959329-89A2-D309-2D60-8794DEFAAA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82312" y="3282696"/>
            <a:ext cx="4023360" cy="786384"/>
          </a:xfrm>
          <a:prstGeom prst="rect">
            <a:avLst/>
          </a:prstGeom>
          <a:solidFill>
            <a:srgbClr val="10386A"/>
          </a:solidFill>
          <a:ln w="12700">
            <a:solidFill>
              <a:srgbClr val="1C9FB4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55D5C288-79A8-A9B0-DD86-0CC5066B536C}"/>
              </a:ext>
            </a:extLst>
          </p:cNvPr>
          <p:cNvSpPr/>
          <p:nvPr/>
        </p:nvSpPr>
        <p:spPr>
          <a:xfrm>
            <a:off x="4946904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56D0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2000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93FA5949-73E6-56A9-4F3B-8CBA655CEBC0}"/>
              </a:ext>
            </a:extLst>
          </p:cNvPr>
          <p:cNvSpPr/>
          <p:nvPr/>
        </p:nvSpPr>
        <p:spPr>
          <a:xfrm>
            <a:off x="5440680" y="33924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3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Roles</a:t>
            </a:r>
            <a:endParaRPr lang="en-US" sz="1300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4E9394B7-C5DA-E8B9-1C1F-178BA574C7C0}"/>
              </a:ext>
            </a:extLst>
          </p:cNvPr>
          <p:cNvSpPr/>
          <p:nvPr/>
        </p:nvSpPr>
        <p:spPr>
          <a:xfrm>
            <a:off x="5440680" y="364845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distinct roles, excluding administrators.</a:t>
            </a:r>
            <a:endParaRPr lang="en-US" sz="1150"/>
          </a:p>
        </p:txBody>
      </p:sp>
    </p:spTree>
    <p:extLst>
      <p:ext uri="{BB962C8B-B14F-4D97-AF65-F5344CB8AC3E}">
        <p14:creationId xmlns:p14="http://schemas.microsoft.com/office/powerpoint/2010/main" val="9196817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eet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6032" y="256032"/>
            <a:ext cx="8631936" cy="4631436"/>
          </a:xfrm>
          <a:prstGeom prst="rect">
            <a:avLst/>
          </a:prstGeom>
          <a:ln w="12700">
            <a:solidFill>
              <a:srgbClr val="1C9F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2920" y="3657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>
                <a:solidFill>
                  <a:srgbClr val="37D2E6"/>
                </a:solidFill>
                <a:latin typeface="Consolas"/>
              </a:rPr>
              <a:t>MODELING</a:t>
            </a:r>
            <a:endParaRPr lang="en-US"/>
          </a:p>
        </p:txBody>
      </p:sp>
      <p:sp>
        <p:nvSpPr>
          <p:cNvPr id="3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60350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Consolas"/>
              </a:rPr>
              <a:t>UML Diagram - </a:t>
            </a:r>
            <a:r>
              <a:rPr lang="en-US" sz="2200" b="1">
                <a:solidFill>
                  <a:srgbClr val="FFFFFF"/>
                </a:solidFill>
                <a:latin typeface="Consolas"/>
                <a:hlinkClick r:id="rId3"/>
              </a:rPr>
              <a:t>Link</a:t>
            </a:r>
            <a:endParaRPr lang="en-US"/>
          </a:p>
        </p:txBody>
      </p:sp>
      <p:sp>
        <p:nvSpPr>
          <p:cNvPr id="51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953651" y="1099274"/>
            <a:ext cx="5833108" cy="3475363"/>
          </a:xfrm>
          <a:prstGeom prst="rect">
            <a:avLst/>
          </a:prstGeom>
          <a:solidFill>
            <a:srgbClr val="10386A"/>
          </a:solidFill>
          <a:ln w="12700">
            <a:solidFill>
              <a:srgbClr val="1C9FB4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1433703F-13F2-24AB-9FA0-61E1E0FABB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0658" y="1099037"/>
            <a:ext cx="5836165" cy="346563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F3F3F-4C2C-7F99-D5CB-6DFD6A344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 v">
            <a:extLst>
              <a:ext uri="{FF2B5EF4-FFF2-40B4-BE49-F238E27FC236}">
                <a16:creationId xmlns:a16="http://schemas.microsoft.com/office/drawing/2014/main" id="{897F5116-A7DB-8552-D0BA-837EE30A3B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grid v">
            <a:extLst>
              <a:ext uri="{FF2B5EF4-FFF2-40B4-BE49-F238E27FC236}">
                <a16:creationId xmlns:a16="http://schemas.microsoft.com/office/drawing/2014/main" id="{C6A4D582-31B6-4FB1-7339-BE34A4A32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grid v">
            <a:extLst>
              <a:ext uri="{FF2B5EF4-FFF2-40B4-BE49-F238E27FC236}">
                <a16:creationId xmlns:a16="http://schemas.microsoft.com/office/drawing/2014/main" id="{4512FFDD-7F36-6C1F-67E6-0B7BEAA97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grid v">
            <a:extLst>
              <a:ext uri="{FF2B5EF4-FFF2-40B4-BE49-F238E27FC236}">
                <a16:creationId xmlns:a16="http://schemas.microsoft.com/office/drawing/2014/main" id="{E32E700D-8CED-E149-F6A4-0155F45FE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grid v">
            <a:extLst>
              <a:ext uri="{FF2B5EF4-FFF2-40B4-BE49-F238E27FC236}">
                <a16:creationId xmlns:a16="http://schemas.microsoft.com/office/drawing/2014/main" id="{DE72A88D-9A28-971F-8E99-CEF5F6CB7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grid v">
            <a:extLst>
              <a:ext uri="{FF2B5EF4-FFF2-40B4-BE49-F238E27FC236}">
                <a16:creationId xmlns:a16="http://schemas.microsoft.com/office/drawing/2014/main" id="{4500B207-911A-53DB-D33E-17A0E25D7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grid v">
            <a:extLst>
              <a:ext uri="{FF2B5EF4-FFF2-40B4-BE49-F238E27FC236}">
                <a16:creationId xmlns:a16="http://schemas.microsoft.com/office/drawing/2014/main" id="{3AFAAC39-855E-3321-2972-F65535F0C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grid v">
            <a:extLst>
              <a:ext uri="{FF2B5EF4-FFF2-40B4-BE49-F238E27FC236}">
                <a16:creationId xmlns:a16="http://schemas.microsoft.com/office/drawing/2014/main" id="{75D939FD-9A84-1081-5D76-7B3C9D0C93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grid v">
            <a:extLst>
              <a:ext uri="{FF2B5EF4-FFF2-40B4-BE49-F238E27FC236}">
                <a16:creationId xmlns:a16="http://schemas.microsoft.com/office/drawing/2014/main" id="{C52F205A-3164-B49B-91F0-7C52F23B4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grid v">
            <a:extLst>
              <a:ext uri="{FF2B5EF4-FFF2-40B4-BE49-F238E27FC236}">
                <a16:creationId xmlns:a16="http://schemas.microsoft.com/office/drawing/2014/main" id="{56746EF7-876E-6A21-8974-9A7AC3C0F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grid v">
            <a:extLst>
              <a:ext uri="{FF2B5EF4-FFF2-40B4-BE49-F238E27FC236}">
                <a16:creationId xmlns:a16="http://schemas.microsoft.com/office/drawing/2014/main" id="{361DB327-6E9B-3A70-AF61-CA2C919675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grid v">
            <a:extLst>
              <a:ext uri="{FF2B5EF4-FFF2-40B4-BE49-F238E27FC236}">
                <a16:creationId xmlns:a16="http://schemas.microsoft.com/office/drawing/2014/main" id="{83F75D92-B6A3-9573-C1E8-4925B0FB0A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grid v">
            <a:extLst>
              <a:ext uri="{FF2B5EF4-FFF2-40B4-BE49-F238E27FC236}">
                <a16:creationId xmlns:a16="http://schemas.microsoft.com/office/drawing/2014/main" id="{9FE96CBB-7ED7-8F50-23A3-71A6606C2B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grid v">
            <a:extLst>
              <a:ext uri="{FF2B5EF4-FFF2-40B4-BE49-F238E27FC236}">
                <a16:creationId xmlns:a16="http://schemas.microsoft.com/office/drawing/2014/main" id="{7235DCA9-EB81-C6CB-2896-501D692DD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grid v">
            <a:extLst>
              <a:ext uri="{FF2B5EF4-FFF2-40B4-BE49-F238E27FC236}">
                <a16:creationId xmlns:a16="http://schemas.microsoft.com/office/drawing/2014/main" id="{2667986B-3D9D-B810-4529-92B43B00D7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grid v">
            <a:extLst>
              <a:ext uri="{FF2B5EF4-FFF2-40B4-BE49-F238E27FC236}">
                <a16:creationId xmlns:a16="http://schemas.microsoft.com/office/drawing/2014/main" id="{79C1DBE7-81DF-2895-279F-591197E343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grid v">
            <a:extLst>
              <a:ext uri="{FF2B5EF4-FFF2-40B4-BE49-F238E27FC236}">
                <a16:creationId xmlns:a16="http://schemas.microsoft.com/office/drawing/2014/main" id="{626FCA35-778A-1453-5F39-4626B75BB0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grid v">
            <a:extLst>
              <a:ext uri="{FF2B5EF4-FFF2-40B4-BE49-F238E27FC236}">
                <a16:creationId xmlns:a16="http://schemas.microsoft.com/office/drawing/2014/main" id="{1A3761B7-8A69-2F3E-5832-DBE4E6F6D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grid v">
            <a:extLst>
              <a:ext uri="{FF2B5EF4-FFF2-40B4-BE49-F238E27FC236}">
                <a16:creationId xmlns:a16="http://schemas.microsoft.com/office/drawing/2014/main" id="{FF1F34A0-A2FE-768B-C3D7-A8B3B0F655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grid h">
            <a:extLst>
              <a:ext uri="{FF2B5EF4-FFF2-40B4-BE49-F238E27FC236}">
                <a16:creationId xmlns:a16="http://schemas.microsoft.com/office/drawing/2014/main" id="{060D3372-E9FC-323C-A720-3DC0A871F2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grid h">
            <a:extLst>
              <a:ext uri="{FF2B5EF4-FFF2-40B4-BE49-F238E27FC236}">
                <a16:creationId xmlns:a16="http://schemas.microsoft.com/office/drawing/2014/main" id="{33E32B6B-2C1D-8BC5-FD0A-AFFD986E8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grid h">
            <a:extLst>
              <a:ext uri="{FF2B5EF4-FFF2-40B4-BE49-F238E27FC236}">
                <a16:creationId xmlns:a16="http://schemas.microsoft.com/office/drawing/2014/main" id="{EF49E0F3-1245-1929-2E8A-4DBE8B576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grid h">
            <a:extLst>
              <a:ext uri="{FF2B5EF4-FFF2-40B4-BE49-F238E27FC236}">
                <a16:creationId xmlns:a16="http://schemas.microsoft.com/office/drawing/2014/main" id="{4691B71B-94B0-F9C3-3A57-5AF302F92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grid h">
            <a:extLst>
              <a:ext uri="{FF2B5EF4-FFF2-40B4-BE49-F238E27FC236}">
                <a16:creationId xmlns:a16="http://schemas.microsoft.com/office/drawing/2014/main" id="{EB27E213-B6F2-874F-BBBA-21CE0640A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grid h">
            <a:extLst>
              <a:ext uri="{FF2B5EF4-FFF2-40B4-BE49-F238E27FC236}">
                <a16:creationId xmlns:a16="http://schemas.microsoft.com/office/drawing/2014/main" id="{B81B1BDD-79A9-9BDB-59CC-0FA5A48DC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grid h">
            <a:extLst>
              <a:ext uri="{FF2B5EF4-FFF2-40B4-BE49-F238E27FC236}">
                <a16:creationId xmlns:a16="http://schemas.microsoft.com/office/drawing/2014/main" id="{F0F3222C-F0D1-AE91-2B56-CE4912266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grid h">
            <a:extLst>
              <a:ext uri="{FF2B5EF4-FFF2-40B4-BE49-F238E27FC236}">
                <a16:creationId xmlns:a16="http://schemas.microsoft.com/office/drawing/2014/main" id="{BB7EF6F2-366F-61FE-B990-E87A4A69BE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grid h">
            <a:extLst>
              <a:ext uri="{FF2B5EF4-FFF2-40B4-BE49-F238E27FC236}">
                <a16:creationId xmlns:a16="http://schemas.microsoft.com/office/drawing/2014/main" id="{C7B89F36-0EE3-84FE-ED66-55F215B3E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grid h">
            <a:extLst>
              <a:ext uri="{FF2B5EF4-FFF2-40B4-BE49-F238E27FC236}">
                <a16:creationId xmlns:a16="http://schemas.microsoft.com/office/drawing/2014/main" id="{22F89569-BDE8-B835-2CDE-D6E17AC0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grid h">
            <a:extLst>
              <a:ext uri="{FF2B5EF4-FFF2-40B4-BE49-F238E27FC236}">
                <a16:creationId xmlns:a16="http://schemas.microsoft.com/office/drawing/2014/main" id="{CAF1260F-5F5B-2B3D-6E6A-C20FF751CE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eet frame">
            <a:extLst>
              <a:ext uri="{FF2B5EF4-FFF2-40B4-BE49-F238E27FC236}">
                <a16:creationId xmlns:a16="http://schemas.microsoft.com/office/drawing/2014/main" id="{EBDE6D81-3742-6A99-A61F-D54F02A6B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6032" y="256032"/>
            <a:ext cx="8631936" cy="4631436"/>
          </a:xfrm>
          <a:prstGeom prst="rect">
            <a:avLst/>
          </a:prstGeom>
          <a:ln w="12700">
            <a:solidFill>
              <a:srgbClr val="1C9F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1FA7C51F-B16E-7089-853E-CAD7D295C74A}"/>
              </a:ext>
            </a:extLst>
          </p:cNvPr>
          <p:cNvSpPr/>
          <p:nvPr/>
        </p:nvSpPr>
        <p:spPr>
          <a:xfrm>
            <a:off x="502920" y="3657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>
                <a:solidFill>
                  <a:srgbClr val="37D2E6"/>
                </a:solidFill>
                <a:latin typeface="Consolas"/>
              </a:rPr>
              <a:t>MODELING</a:t>
            </a:r>
            <a:endParaRPr lang="en-US"/>
          </a:p>
        </p:txBody>
      </p:sp>
      <p:sp>
        <p:nvSpPr>
          <p:cNvPr id="34" name="Text 0">
            <a:extLst>
              <a:ext uri="{FF2B5EF4-FFF2-40B4-BE49-F238E27FC236}">
                <a16:creationId xmlns:a16="http://schemas.microsoft.com/office/drawing/2014/main" id="{284FD378-96E0-5538-F18A-DB60C73DC739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502920" y="60350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Consolas"/>
              </a:rPr>
              <a:t>Ecosystem:</a:t>
            </a:r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46DB7535-F60D-786D-F664-8116589AF2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218" y="605928"/>
            <a:ext cx="5940227" cy="3807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5691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F88D2-EE93-30A7-3F98-184CA6C78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 v">
            <a:extLst>
              <a:ext uri="{FF2B5EF4-FFF2-40B4-BE49-F238E27FC236}">
                <a16:creationId xmlns:a16="http://schemas.microsoft.com/office/drawing/2014/main" id="{D5546D91-890F-D12D-A48F-6E45797E4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grid v">
            <a:extLst>
              <a:ext uri="{FF2B5EF4-FFF2-40B4-BE49-F238E27FC236}">
                <a16:creationId xmlns:a16="http://schemas.microsoft.com/office/drawing/2014/main" id="{C090EEBA-D56C-5D90-8385-6D0BD9778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grid v">
            <a:extLst>
              <a:ext uri="{FF2B5EF4-FFF2-40B4-BE49-F238E27FC236}">
                <a16:creationId xmlns:a16="http://schemas.microsoft.com/office/drawing/2014/main" id="{D733A669-663C-7FDD-5781-62AFD840E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grid v">
            <a:extLst>
              <a:ext uri="{FF2B5EF4-FFF2-40B4-BE49-F238E27FC236}">
                <a16:creationId xmlns:a16="http://schemas.microsoft.com/office/drawing/2014/main" id="{16CD9A31-7F1D-1FE9-2377-9988DAF179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grid v">
            <a:extLst>
              <a:ext uri="{FF2B5EF4-FFF2-40B4-BE49-F238E27FC236}">
                <a16:creationId xmlns:a16="http://schemas.microsoft.com/office/drawing/2014/main" id="{7A3CA506-5FCD-D75D-76A3-BF751F49F5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grid v">
            <a:extLst>
              <a:ext uri="{FF2B5EF4-FFF2-40B4-BE49-F238E27FC236}">
                <a16:creationId xmlns:a16="http://schemas.microsoft.com/office/drawing/2014/main" id="{21269C74-DBF8-0F13-DF0A-653004FDCF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grid v">
            <a:extLst>
              <a:ext uri="{FF2B5EF4-FFF2-40B4-BE49-F238E27FC236}">
                <a16:creationId xmlns:a16="http://schemas.microsoft.com/office/drawing/2014/main" id="{FFAB4A48-8E84-581D-A633-62754D49B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grid v">
            <a:extLst>
              <a:ext uri="{FF2B5EF4-FFF2-40B4-BE49-F238E27FC236}">
                <a16:creationId xmlns:a16="http://schemas.microsoft.com/office/drawing/2014/main" id="{A09B7CB3-7265-2AA5-7640-AC6DBEBB10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grid v">
            <a:extLst>
              <a:ext uri="{FF2B5EF4-FFF2-40B4-BE49-F238E27FC236}">
                <a16:creationId xmlns:a16="http://schemas.microsoft.com/office/drawing/2014/main" id="{A8990839-819B-DEB7-96D9-229DABA872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grid v">
            <a:extLst>
              <a:ext uri="{FF2B5EF4-FFF2-40B4-BE49-F238E27FC236}">
                <a16:creationId xmlns:a16="http://schemas.microsoft.com/office/drawing/2014/main" id="{CC091195-BC41-66C3-9999-8D2686786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grid v">
            <a:extLst>
              <a:ext uri="{FF2B5EF4-FFF2-40B4-BE49-F238E27FC236}">
                <a16:creationId xmlns:a16="http://schemas.microsoft.com/office/drawing/2014/main" id="{3487C8F7-1016-7020-8E0D-57E2A1D0F6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grid v">
            <a:extLst>
              <a:ext uri="{FF2B5EF4-FFF2-40B4-BE49-F238E27FC236}">
                <a16:creationId xmlns:a16="http://schemas.microsoft.com/office/drawing/2014/main" id="{050B63FC-22BF-64B9-8FEF-EB03AADCC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grid v">
            <a:extLst>
              <a:ext uri="{FF2B5EF4-FFF2-40B4-BE49-F238E27FC236}">
                <a16:creationId xmlns:a16="http://schemas.microsoft.com/office/drawing/2014/main" id="{2B51A90E-38E5-FAEB-5CCD-AE3AF93F37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grid v">
            <a:extLst>
              <a:ext uri="{FF2B5EF4-FFF2-40B4-BE49-F238E27FC236}">
                <a16:creationId xmlns:a16="http://schemas.microsoft.com/office/drawing/2014/main" id="{373AC0DD-A3E1-BA12-E036-1CC02193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grid v">
            <a:extLst>
              <a:ext uri="{FF2B5EF4-FFF2-40B4-BE49-F238E27FC236}">
                <a16:creationId xmlns:a16="http://schemas.microsoft.com/office/drawing/2014/main" id="{A5BE1225-2D9E-0274-9377-0DF0D4D170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grid v">
            <a:extLst>
              <a:ext uri="{FF2B5EF4-FFF2-40B4-BE49-F238E27FC236}">
                <a16:creationId xmlns:a16="http://schemas.microsoft.com/office/drawing/2014/main" id="{E4E7A7C4-E1FD-8475-3335-6C2F3BC536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grid v">
            <a:extLst>
              <a:ext uri="{FF2B5EF4-FFF2-40B4-BE49-F238E27FC236}">
                <a16:creationId xmlns:a16="http://schemas.microsoft.com/office/drawing/2014/main" id="{BF344561-F6EC-F4BB-0DBB-70E0EDECE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grid v">
            <a:extLst>
              <a:ext uri="{FF2B5EF4-FFF2-40B4-BE49-F238E27FC236}">
                <a16:creationId xmlns:a16="http://schemas.microsoft.com/office/drawing/2014/main" id="{3A13F240-6082-657A-17D5-13E626F4C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grid v">
            <a:extLst>
              <a:ext uri="{FF2B5EF4-FFF2-40B4-BE49-F238E27FC236}">
                <a16:creationId xmlns:a16="http://schemas.microsoft.com/office/drawing/2014/main" id="{840EE90E-16FF-B810-6B0F-43A35204F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grid h">
            <a:extLst>
              <a:ext uri="{FF2B5EF4-FFF2-40B4-BE49-F238E27FC236}">
                <a16:creationId xmlns:a16="http://schemas.microsoft.com/office/drawing/2014/main" id="{E5797606-37B4-5FFF-0DCC-061FA1373B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grid h">
            <a:extLst>
              <a:ext uri="{FF2B5EF4-FFF2-40B4-BE49-F238E27FC236}">
                <a16:creationId xmlns:a16="http://schemas.microsoft.com/office/drawing/2014/main" id="{F68B0742-E698-C58E-3178-D5F77F8E1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grid h">
            <a:extLst>
              <a:ext uri="{FF2B5EF4-FFF2-40B4-BE49-F238E27FC236}">
                <a16:creationId xmlns:a16="http://schemas.microsoft.com/office/drawing/2014/main" id="{579A8A6E-9F5D-C028-43D2-DF8182C06C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grid h">
            <a:extLst>
              <a:ext uri="{FF2B5EF4-FFF2-40B4-BE49-F238E27FC236}">
                <a16:creationId xmlns:a16="http://schemas.microsoft.com/office/drawing/2014/main" id="{981BA597-967A-7E6B-0AF6-E57999A53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grid h">
            <a:extLst>
              <a:ext uri="{FF2B5EF4-FFF2-40B4-BE49-F238E27FC236}">
                <a16:creationId xmlns:a16="http://schemas.microsoft.com/office/drawing/2014/main" id="{E57267A7-05C4-EA0C-64D5-016DC438F1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grid h">
            <a:extLst>
              <a:ext uri="{FF2B5EF4-FFF2-40B4-BE49-F238E27FC236}">
                <a16:creationId xmlns:a16="http://schemas.microsoft.com/office/drawing/2014/main" id="{DA1CC8AB-E372-FEA3-543C-E1B35CA41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grid h">
            <a:extLst>
              <a:ext uri="{FF2B5EF4-FFF2-40B4-BE49-F238E27FC236}">
                <a16:creationId xmlns:a16="http://schemas.microsoft.com/office/drawing/2014/main" id="{48ED016D-2D4F-D42C-61FC-ED98FE1C3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grid h">
            <a:extLst>
              <a:ext uri="{FF2B5EF4-FFF2-40B4-BE49-F238E27FC236}">
                <a16:creationId xmlns:a16="http://schemas.microsoft.com/office/drawing/2014/main" id="{C531F99E-912C-8767-8399-3AFE01E0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grid h">
            <a:extLst>
              <a:ext uri="{FF2B5EF4-FFF2-40B4-BE49-F238E27FC236}">
                <a16:creationId xmlns:a16="http://schemas.microsoft.com/office/drawing/2014/main" id="{C5352657-8321-0D36-A63F-F59D91E1C3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grid h">
            <a:extLst>
              <a:ext uri="{FF2B5EF4-FFF2-40B4-BE49-F238E27FC236}">
                <a16:creationId xmlns:a16="http://schemas.microsoft.com/office/drawing/2014/main" id="{B1B070DD-5ECB-D70E-9492-983A12850B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grid h">
            <a:extLst>
              <a:ext uri="{FF2B5EF4-FFF2-40B4-BE49-F238E27FC236}">
                <a16:creationId xmlns:a16="http://schemas.microsoft.com/office/drawing/2014/main" id="{7DF2EAB8-E897-1C80-A35F-C76B2540AB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eet frame">
            <a:extLst>
              <a:ext uri="{FF2B5EF4-FFF2-40B4-BE49-F238E27FC236}">
                <a16:creationId xmlns:a16="http://schemas.microsoft.com/office/drawing/2014/main" id="{734A9C98-19A7-03F6-B442-6EE7D5B1A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6032" y="256032"/>
            <a:ext cx="8631936" cy="4631436"/>
          </a:xfrm>
          <a:prstGeom prst="rect">
            <a:avLst/>
          </a:prstGeom>
          <a:ln w="12700">
            <a:solidFill>
              <a:srgbClr val="1C9F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54946B56-93B9-ADC7-9732-72CDDCC5A64B}"/>
              </a:ext>
            </a:extLst>
          </p:cNvPr>
          <p:cNvSpPr/>
          <p:nvPr/>
        </p:nvSpPr>
        <p:spPr>
          <a:xfrm>
            <a:off x="502920" y="3657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>
                <a:solidFill>
                  <a:srgbClr val="37D2E6"/>
                </a:solidFill>
                <a:latin typeface="Consolas"/>
              </a:rPr>
              <a:t>MODELING</a:t>
            </a:r>
            <a:endParaRPr lang="en-US"/>
          </a:p>
        </p:txBody>
      </p:sp>
      <p:sp>
        <p:nvSpPr>
          <p:cNvPr id="34" name="Text 0">
            <a:extLst>
              <a:ext uri="{FF2B5EF4-FFF2-40B4-BE49-F238E27FC236}">
                <a16:creationId xmlns:a16="http://schemas.microsoft.com/office/drawing/2014/main" id="{6C4ECA06-588D-650C-4BED-324619A1C195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502920" y="60350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Consolas"/>
                <a:ea typeface="+mj-lt"/>
                <a:cs typeface="+mj-lt"/>
              </a:rPr>
              <a:t>Use</a:t>
            </a:r>
            <a:r>
              <a:rPr lang="en-US" sz="2200" b="1">
                <a:solidFill>
                  <a:srgbClr val="FFFFFF"/>
                </a:solidFill>
                <a:latin typeface="Consolas"/>
                <a:ea typeface="Calibri Light"/>
                <a:cs typeface="Calibri Light"/>
              </a:rPr>
              <a:t> Case 1</a:t>
            </a:r>
            <a:r>
              <a:rPr lang="en-US" sz="2200" b="1">
                <a:solidFill>
                  <a:srgbClr val="FFFFFF"/>
                </a:solidFill>
                <a:latin typeface="Consolas"/>
              </a:rPr>
              <a:t>:</a:t>
            </a:r>
            <a:endParaRPr lang="en-US">
              <a:ea typeface="Calibri Light"/>
              <a:cs typeface="Calibri Light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9A3AC674-0CD9-D6DB-00CD-F7FC30DA85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4775" y="989135"/>
            <a:ext cx="6077435" cy="383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2757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437DD-62AB-D3AC-3FEB-38C8ED5C2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 v">
            <a:extLst>
              <a:ext uri="{FF2B5EF4-FFF2-40B4-BE49-F238E27FC236}">
                <a16:creationId xmlns:a16="http://schemas.microsoft.com/office/drawing/2014/main" id="{4165477F-BBFC-0B1A-14AF-B18476E9C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grid v">
            <a:extLst>
              <a:ext uri="{FF2B5EF4-FFF2-40B4-BE49-F238E27FC236}">
                <a16:creationId xmlns:a16="http://schemas.microsoft.com/office/drawing/2014/main" id="{C7B0E2AC-D28A-3678-71EF-A166234642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grid v">
            <a:extLst>
              <a:ext uri="{FF2B5EF4-FFF2-40B4-BE49-F238E27FC236}">
                <a16:creationId xmlns:a16="http://schemas.microsoft.com/office/drawing/2014/main" id="{FF5486CF-BB09-783B-AD3F-0221A6B61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grid v">
            <a:extLst>
              <a:ext uri="{FF2B5EF4-FFF2-40B4-BE49-F238E27FC236}">
                <a16:creationId xmlns:a16="http://schemas.microsoft.com/office/drawing/2014/main" id="{EEBA5BE1-9052-39DB-9559-471E73ADD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grid v">
            <a:extLst>
              <a:ext uri="{FF2B5EF4-FFF2-40B4-BE49-F238E27FC236}">
                <a16:creationId xmlns:a16="http://schemas.microsoft.com/office/drawing/2014/main" id="{DE69A252-642C-5824-433E-196E19908B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grid v">
            <a:extLst>
              <a:ext uri="{FF2B5EF4-FFF2-40B4-BE49-F238E27FC236}">
                <a16:creationId xmlns:a16="http://schemas.microsoft.com/office/drawing/2014/main" id="{D7574A32-97D5-4CAE-93D5-37EBB29BB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grid v">
            <a:extLst>
              <a:ext uri="{FF2B5EF4-FFF2-40B4-BE49-F238E27FC236}">
                <a16:creationId xmlns:a16="http://schemas.microsoft.com/office/drawing/2014/main" id="{00444235-A3BE-8F23-B5CD-5D72107DF4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grid v">
            <a:extLst>
              <a:ext uri="{FF2B5EF4-FFF2-40B4-BE49-F238E27FC236}">
                <a16:creationId xmlns:a16="http://schemas.microsoft.com/office/drawing/2014/main" id="{6A58DC67-C7E5-B39B-3134-966B1BF50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grid v">
            <a:extLst>
              <a:ext uri="{FF2B5EF4-FFF2-40B4-BE49-F238E27FC236}">
                <a16:creationId xmlns:a16="http://schemas.microsoft.com/office/drawing/2014/main" id="{87E36839-565C-BF15-65EF-B0E74A4913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grid v">
            <a:extLst>
              <a:ext uri="{FF2B5EF4-FFF2-40B4-BE49-F238E27FC236}">
                <a16:creationId xmlns:a16="http://schemas.microsoft.com/office/drawing/2014/main" id="{EB99FE22-C590-177F-06F2-736DC202E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grid v">
            <a:extLst>
              <a:ext uri="{FF2B5EF4-FFF2-40B4-BE49-F238E27FC236}">
                <a16:creationId xmlns:a16="http://schemas.microsoft.com/office/drawing/2014/main" id="{74A07D9C-506B-297D-0EA6-3D585258F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grid v">
            <a:extLst>
              <a:ext uri="{FF2B5EF4-FFF2-40B4-BE49-F238E27FC236}">
                <a16:creationId xmlns:a16="http://schemas.microsoft.com/office/drawing/2014/main" id="{C42F3F46-3803-49DF-8A1C-558E2BEE3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grid v">
            <a:extLst>
              <a:ext uri="{FF2B5EF4-FFF2-40B4-BE49-F238E27FC236}">
                <a16:creationId xmlns:a16="http://schemas.microsoft.com/office/drawing/2014/main" id="{32314AE1-99BA-C558-0069-B72EB7A5D8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grid v">
            <a:extLst>
              <a:ext uri="{FF2B5EF4-FFF2-40B4-BE49-F238E27FC236}">
                <a16:creationId xmlns:a16="http://schemas.microsoft.com/office/drawing/2014/main" id="{6B40E067-D7C0-A730-C419-8347097B4A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grid v">
            <a:extLst>
              <a:ext uri="{FF2B5EF4-FFF2-40B4-BE49-F238E27FC236}">
                <a16:creationId xmlns:a16="http://schemas.microsoft.com/office/drawing/2014/main" id="{C3C11CDE-5689-8E5C-E13E-1E50F8205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grid v">
            <a:extLst>
              <a:ext uri="{FF2B5EF4-FFF2-40B4-BE49-F238E27FC236}">
                <a16:creationId xmlns:a16="http://schemas.microsoft.com/office/drawing/2014/main" id="{2A3C6CFC-6CB6-446B-B3A4-F799EB1D6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grid v">
            <a:extLst>
              <a:ext uri="{FF2B5EF4-FFF2-40B4-BE49-F238E27FC236}">
                <a16:creationId xmlns:a16="http://schemas.microsoft.com/office/drawing/2014/main" id="{81FED63C-8DE2-B27B-3621-A61A42365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grid v">
            <a:extLst>
              <a:ext uri="{FF2B5EF4-FFF2-40B4-BE49-F238E27FC236}">
                <a16:creationId xmlns:a16="http://schemas.microsoft.com/office/drawing/2014/main" id="{76810049-C015-F3EA-48F4-6E42ED94C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grid v">
            <a:extLst>
              <a:ext uri="{FF2B5EF4-FFF2-40B4-BE49-F238E27FC236}">
                <a16:creationId xmlns:a16="http://schemas.microsoft.com/office/drawing/2014/main" id="{2DB9073A-FD6F-845D-0CBE-F35A95AD1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grid h">
            <a:extLst>
              <a:ext uri="{FF2B5EF4-FFF2-40B4-BE49-F238E27FC236}">
                <a16:creationId xmlns:a16="http://schemas.microsoft.com/office/drawing/2014/main" id="{4F85515D-514A-670D-0097-46A42C7F1D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grid h">
            <a:extLst>
              <a:ext uri="{FF2B5EF4-FFF2-40B4-BE49-F238E27FC236}">
                <a16:creationId xmlns:a16="http://schemas.microsoft.com/office/drawing/2014/main" id="{9AC2426A-F02C-E77E-D032-9A996E0D4F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grid h">
            <a:extLst>
              <a:ext uri="{FF2B5EF4-FFF2-40B4-BE49-F238E27FC236}">
                <a16:creationId xmlns:a16="http://schemas.microsoft.com/office/drawing/2014/main" id="{E21CFA65-D51E-EE97-B4D1-D8F480F92E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grid h">
            <a:extLst>
              <a:ext uri="{FF2B5EF4-FFF2-40B4-BE49-F238E27FC236}">
                <a16:creationId xmlns:a16="http://schemas.microsoft.com/office/drawing/2014/main" id="{E7F9DC0D-AB6E-1357-14D9-83798ADEE1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grid h">
            <a:extLst>
              <a:ext uri="{FF2B5EF4-FFF2-40B4-BE49-F238E27FC236}">
                <a16:creationId xmlns:a16="http://schemas.microsoft.com/office/drawing/2014/main" id="{C2326905-D1ED-6E90-3EF1-808E556429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grid h">
            <a:extLst>
              <a:ext uri="{FF2B5EF4-FFF2-40B4-BE49-F238E27FC236}">
                <a16:creationId xmlns:a16="http://schemas.microsoft.com/office/drawing/2014/main" id="{17D29E8C-0F04-5024-C75F-9DAB4139FA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grid h">
            <a:extLst>
              <a:ext uri="{FF2B5EF4-FFF2-40B4-BE49-F238E27FC236}">
                <a16:creationId xmlns:a16="http://schemas.microsoft.com/office/drawing/2014/main" id="{D1CDEC24-1EA1-062E-294F-1E6463237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grid h">
            <a:extLst>
              <a:ext uri="{FF2B5EF4-FFF2-40B4-BE49-F238E27FC236}">
                <a16:creationId xmlns:a16="http://schemas.microsoft.com/office/drawing/2014/main" id="{91E79B89-5EE3-0C0B-9875-797C786D2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grid h">
            <a:extLst>
              <a:ext uri="{FF2B5EF4-FFF2-40B4-BE49-F238E27FC236}">
                <a16:creationId xmlns:a16="http://schemas.microsoft.com/office/drawing/2014/main" id="{AD62570E-1138-B66B-90BC-0D0D4A6BA4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grid h">
            <a:extLst>
              <a:ext uri="{FF2B5EF4-FFF2-40B4-BE49-F238E27FC236}">
                <a16:creationId xmlns:a16="http://schemas.microsoft.com/office/drawing/2014/main" id="{7888EF9D-B001-E728-8AC0-E7513DB362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grid h">
            <a:extLst>
              <a:ext uri="{FF2B5EF4-FFF2-40B4-BE49-F238E27FC236}">
                <a16:creationId xmlns:a16="http://schemas.microsoft.com/office/drawing/2014/main" id="{672B892C-F83A-3629-3BD5-C2293DB165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eet frame">
            <a:extLst>
              <a:ext uri="{FF2B5EF4-FFF2-40B4-BE49-F238E27FC236}">
                <a16:creationId xmlns:a16="http://schemas.microsoft.com/office/drawing/2014/main" id="{689D9692-3594-8300-DB8F-4337FE596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6032" y="256032"/>
            <a:ext cx="8631936" cy="4631436"/>
          </a:xfrm>
          <a:prstGeom prst="rect">
            <a:avLst/>
          </a:prstGeom>
          <a:ln w="12700">
            <a:solidFill>
              <a:srgbClr val="1C9F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0F702FC1-701E-8C0E-A07F-B9A550D0432A}"/>
              </a:ext>
            </a:extLst>
          </p:cNvPr>
          <p:cNvSpPr/>
          <p:nvPr/>
        </p:nvSpPr>
        <p:spPr>
          <a:xfrm>
            <a:off x="502920" y="3657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>
                <a:solidFill>
                  <a:srgbClr val="37D2E6"/>
                </a:solidFill>
                <a:latin typeface="Consolas"/>
              </a:rPr>
              <a:t>MODELING</a:t>
            </a:r>
            <a:endParaRPr lang="en-US"/>
          </a:p>
        </p:txBody>
      </p:sp>
      <p:sp>
        <p:nvSpPr>
          <p:cNvPr id="34" name="Text 0">
            <a:extLst>
              <a:ext uri="{FF2B5EF4-FFF2-40B4-BE49-F238E27FC236}">
                <a16:creationId xmlns:a16="http://schemas.microsoft.com/office/drawing/2014/main" id="{CC4316BA-766C-426B-386E-DF039C2507BF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502920" y="60350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Consolas"/>
              </a:rPr>
              <a:t>Use Case 3:</a:t>
            </a:r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A34481CE-CF8D-330F-21C6-A86268A97E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4387" y="1011115"/>
            <a:ext cx="6250880" cy="3766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7802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71543-78B1-4759-3523-47B2834F5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 v">
            <a:extLst>
              <a:ext uri="{FF2B5EF4-FFF2-40B4-BE49-F238E27FC236}">
                <a16:creationId xmlns:a16="http://schemas.microsoft.com/office/drawing/2014/main" id="{F471EBDE-A298-F023-EC82-B01F946D9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grid v">
            <a:extLst>
              <a:ext uri="{FF2B5EF4-FFF2-40B4-BE49-F238E27FC236}">
                <a16:creationId xmlns:a16="http://schemas.microsoft.com/office/drawing/2014/main" id="{B87E5B6D-A43D-BD56-9780-98F899F98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grid v">
            <a:extLst>
              <a:ext uri="{FF2B5EF4-FFF2-40B4-BE49-F238E27FC236}">
                <a16:creationId xmlns:a16="http://schemas.microsoft.com/office/drawing/2014/main" id="{07B0561B-C7D8-B394-EDC7-5150BB67E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grid v">
            <a:extLst>
              <a:ext uri="{FF2B5EF4-FFF2-40B4-BE49-F238E27FC236}">
                <a16:creationId xmlns:a16="http://schemas.microsoft.com/office/drawing/2014/main" id="{C29EA148-55D3-D3EF-77A8-78D3883AA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grid v">
            <a:extLst>
              <a:ext uri="{FF2B5EF4-FFF2-40B4-BE49-F238E27FC236}">
                <a16:creationId xmlns:a16="http://schemas.microsoft.com/office/drawing/2014/main" id="{CBC88389-3EB0-B8B5-0AD1-3EEA97DE57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grid v">
            <a:extLst>
              <a:ext uri="{FF2B5EF4-FFF2-40B4-BE49-F238E27FC236}">
                <a16:creationId xmlns:a16="http://schemas.microsoft.com/office/drawing/2014/main" id="{8CD838F7-55F5-E108-029E-C6F4FEDCDE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grid v">
            <a:extLst>
              <a:ext uri="{FF2B5EF4-FFF2-40B4-BE49-F238E27FC236}">
                <a16:creationId xmlns:a16="http://schemas.microsoft.com/office/drawing/2014/main" id="{3026F056-A06B-09AB-211D-B00E727F6C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grid v">
            <a:extLst>
              <a:ext uri="{FF2B5EF4-FFF2-40B4-BE49-F238E27FC236}">
                <a16:creationId xmlns:a16="http://schemas.microsoft.com/office/drawing/2014/main" id="{FC46D697-708A-7E4C-4DAE-BF57C09C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grid v">
            <a:extLst>
              <a:ext uri="{FF2B5EF4-FFF2-40B4-BE49-F238E27FC236}">
                <a16:creationId xmlns:a16="http://schemas.microsoft.com/office/drawing/2014/main" id="{603C0C29-AC39-83D6-0E35-F235E4CAA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grid v">
            <a:extLst>
              <a:ext uri="{FF2B5EF4-FFF2-40B4-BE49-F238E27FC236}">
                <a16:creationId xmlns:a16="http://schemas.microsoft.com/office/drawing/2014/main" id="{A40E6735-B678-534A-9BDA-DADB93F06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grid v">
            <a:extLst>
              <a:ext uri="{FF2B5EF4-FFF2-40B4-BE49-F238E27FC236}">
                <a16:creationId xmlns:a16="http://schemas.microsoft.com/office/drawing/2014/main" id="{14578164-97D8-0B2C-0A41-5E6106885F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grid v">
            <a:extLst>
              <a:ext uri="{FF2B5EF4-FFF2-40B4-BE49-F238E27FC236}">
                <a16:creationId xmlns:a16="http://schemas.microsoft.com/office/drawing/2014/main" id="{012BE6BF-8C34-BB0A-474D-AC242BABCA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grid v">
            <a:extLst>
              <a:ext uri="{FF2B5EF4-FFF2-40B4-BE49-F238E27FC236}">
                <a16:creationId xmlns:a16="http://schemas.microsoft.com/office/drawing/2014/main" id="{0E2DAC5D-7AB1-4220-10CD-2321A12E4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grid v">
            <a:extLst>
              <a:ext uri="{FF2B5EF4-FFF2-40B4-BE49-F238E27FC236}">
                <a16:creationId xmlns:a16="http://schemas.microsoft.com/office/drawing/2014/main" id="{614046FF-61E3-71AC-2AD1-7F190103C5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grid v">
            <a:extLst>
              <a:ext uri="{FF2B5EF4-FFF2-40B4-BE49-F238E27FC236}">
                <a16:creationId xmlns:a16="http://schemas.microsoft.com/office/drawing/2014/main" id="{162A84D4-A8F9-9603-4944-E61611926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grid v">
            <a:extLst>
              <a:ext uri="{FF2B5EF4-FFF2-40B4-BE49-F238E27FC236}">
                <a16:creationId xmlns:a16="http://schemas.microsoft.com/office/drawing/2014/main" id="{0A804E1F-2D0D-6CB2-E181-E7EA618272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grid v">
            <a:extLst>
              <a:ext uri="{FF2B5EF4-FFF2-40B4-BE49-F238E27FC236}">
                <a16:creationId xmlns:a16="http://schemas.microsoft.com/office/drawing/2014/main" id="{2F3BCD73-C367-19D4-E5DA-ED02E0AC9E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grid v">
            <a:extLst>
              <a:ext uri="{FF2B5EF4-FFF2-40B4-BE49-F238E27FC236}">
                <a16:creationId xmlns:a16="http://schemas.microsoft.com/office/drawing/2014/main" id="{DD4841EE-0E29-6F95-3534-74A2C2915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grid v">
            <a:extLst>
              <a:ext uri="{FF2B5EF4-FFF2-40B4-BE49-F238E27FC236}">
                <a16:creationId xmlns:a16="http://schemas.microsoft.com/office/drawing/2014/main" id="{6677441E-0CA3-6622-907D-56885E10D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grid h">
            <a:extLst>
              <a:ext uri="{FF2B5EF4-FFF2-40B4-BE49-F238E27FC236}">
                <a16:creationId xmlns:a16="http://schemas.microsoft.com/office/drawing/2014/main" id="{D43CF929-BDD1-5D24-36A5-EA5D34A935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grid h">
            <a:extLst>
              <a:ext uri="{FF2B5EF4-FFF2-40B4-BE49-F238E27FC236}">
                <a16:creationId xmlns:a16="http://schemas.microsoft.com/office/drawing/2014/main" id="{BF768874-1429-5AA7-BE01-6060AD82E7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grid h">
            <a:extLst>
              <a:ext uri="{FF2B5EF4-FFF2-40B4-BE49-F238E27FC236}">
                <a16:creationId xmlns:a16="http://schemas.microsoft.com/office/drawing/2014/main" id="{4F2A667E-5581-DCC4-4796-E294BF0604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grid h">
            <a:extLst>
              <a:ext uri="{FF2B5EF4-FFF2-40B4-BE49-F238E27FC236}">
                <a16:creationId xmlns:a16="http://schemas.microsoft.com/office/drawing/2014/main" id="{8A96DF98-1469-8620-7823-584FA0668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grid h">
            <a:extLst>
              <a:ext uri="{FF2B5EF4-FFF2-40B4-BE49-F238E27FC236}">
                <a16:creationId xmlns:a16="http://schemas.microsoft.com/office/drawing/2014/main" id="{1B8A1672-BA41-5594-2688-D972DEC63B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grid h">
            <a:extLst>
              <a:ext uri="{FF2B5EF4-FFF2-40B4-BE49-F238E27FC236}">
                <a16:creationId xmlns:a16="http://schemas.microsoft.com/office/drawing/2014/main" id="{3269E76B-887B-0A0E-D50F-E554762AA6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grid h">
            <a:extLst>
              <a:ext uri="{FF2B5EF4-FFF2-40B4-BE49-F238E27FC236}">
                <a16:creationId xmlns:a16="http://schemas.microsoft.com/office/drawing/2014/main" id="{E0360FBC-CD8C-F5B1-EBC0-B28851250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grid h">
            <a:extLst>
              <a:ext uri="{FF2B5EF4-FFF2-40B4-BE49-F238E27FC236}">
                <a16:creationId xmlns:a16="http://schemas.microsoft.com/office/drawing/2014/main" id="{C17FAC31-D47D-6977-F6BB-EC95AF774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grid h">
            <a:extLst>
              <a:ext uri="{FF2B5EF4-FFF2-40B4-BE49-F238E27FC236}">
                <a16:creationId xmlns:a16="http://schemas.microsoft.com/office/drawing/2014/main" id="{0D8809DB-D972-1A94-D6BA-D24E73819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grid h">
            <a:extLst>
              <a:ext uri="{FF2B5EF4-FFF2-40B4-BE49-F238E27FC236}">
                <a16:creationId xmlns:a16="http://schemas.microsoft.com/office/drawing/2014/main" id="{BA43FE47-65E1-E6CA-88B3-64B84EBF3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grid h">
            <a:extLst>
              <a:ext uri="{FF2B5EF4-FFF2-40B4-BE49-F238E27FC236}">
                <a16:creationId xmlns:a16="http://schemas.microsoft.com/office/drawing/2014/main" id="{5B76DFB4-7685-2443-DD9A-5F1D4BE553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eet frame">
            <a:extLst>
              <a:ext uri="{FF2B5EF4-FFF2-40B4-BE49-F238E27FC236}">
                <a16:creationId xmlns:a16="http://schemas.microsoft.com/office/drawing/2014/main" id="{A898451E-6018-ACFC-CAE3-DF474CCEF4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6032" y="256032"/>
            <a:ext cx="8631936" cy="4631436"/>
          </a:xfrm>
          <a:prstGeom prst="rect">
            <a:avLst/>
          </a:prstGeom>
          <a:ln w="12700">
            <a:solidFill>
              <a:srgbClr val="1C9F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4A58E3B8-44D0-AD94-04FE-E2FF2FA82C3B}"/>
              </a:ext>
            </a:extLst>
          </p:cNvPr>
          <p:cNvSpPr/>
          <p:nvPr/>
        </p:nvSpPr>
        <p:spPr>
          <a:xfrm>
            <a:off x="502920" y="3657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300">
                <a:solidFill>
                  <a:srgbClr val="37D2E6"/>
                </a:solidFill>
                <a:latin typeface="Consolas"/>
              </a:rPr>
              <a:t>ADVANCED FEATURES</a:t>
            </a:r>
            <a:endParaRPr lang="en-US"/>
          </a:p>
        </p:txBody>
      </p:sp>
      <p:sp>
        <p:nvSpPr>
          <p:cNvPr id="34" name="Text 0">
            <a:extLst>
              <a:ext uri="{FF2B5EF4-FFF2-40B4-BE49-F238E27FC236}">
                <a16:creationId xmlns:a16="http://schemas.microsoft.com/office/drawing/2014/main" id="{F0DDA3E2-6126-EDF7-067F-EC6FC3E22AC1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502920" y="60350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2400" b="1">
                <a:solidFill>
                  <a:srgbClr val="FFFFFF"/>
                </a:solidFill>
                <a:latin typeface="Consolas"/>
              </a:rPr>
              <a:t>Dealership Enterprise</a:t>
            </a:r>
            <a:endParaRPr lang="en-US"/>
          </a:p>
        </p:txBody>
      </p:sp>
      <p:sp>
        <p:nvSpPr>
          <p:cNvPr id="35" name="card">
            <a:extLst>
              <a:ext uri="{FF2B5EF4-FFF2-40B4-BE49-F238E27FC236}">
                <a16:creationId xmlns:a16="http://schemas.microsoft.com/office/drawing/2014/main" id="{F3D18F4D-9394-911E-2F02-E43549A23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2670048" cy="2926080"/>
          </a:xfrm>
          <a:prstGeom prst="rect">
            <a:avLst/>
          </a:prstGeom>
          <a:solidFill>
            <a:srgbClr val="10386A"/>
          </a:solidFill>
          <a:ln w="12700">
            <a:solidFill>
              <a:srgbClr val="1C9FB4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corner tick">
            <a:extLst>
              <a:ext uri="{FF2B5EF4-FFF2-40B4-BE49-F238E27FC236}">
                <a16:creationId xmlns:a16="http://schemas.microsoft.com/office/drawing/2014/main" id="{AB371B48-A4B9-8697-9F11-6FF2EE6C9F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128016" cy="0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corner tick">
            <a:extLst>
              <a:ext uri="{FF2B5EF4-FFF2-40B4-BE49-F238E27FC236}">
                <a16:creationId xmlns:a16="http://schemas.microsoft.com/office/drawing/2014/main" id="{31267DB5-A224-B1FF-692E-74692AF101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0" cy="128016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corner tick">
            <a:extLst>
              <a:ext uri="{FF2B5EF4-FFF2-40B4-BE49-F238E27FC236}">
                <a16:creationId xmlns:a16="http://schemas.microsoft.com/office/drawing/2014/main" id="{AA75D559-A9F7-1918-EE82-B88CD035A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4952" y="4443984"/>
            <a:ext cx="128016" cy="0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corner tick">
            <a:extLst>
              <a:ext uri="{FF2B5EF4-FFF2-40B4-BE49-F238E27FC236}">
                <a16:creationId xmlns:a16="http://schemas.microsoft.com/office/drawing/2014/main" id="{C5EC722C-1B7B-72C3-089C-D73802F37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72968" y="4315968"/>
            <a:ext cx="0" cy="128016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CDAE7278-1140-307F-DA72-868F0C077ADB}"/>
              </a:ext>
            </a:extLst>
          </p:cNvPr>
          <p:cNvSpPr/>
          <p:nvPr/>
        </p:nvSpPr>
        <p:spPr>
          <a:xfrm>
            <a:off x="704088" y="171907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3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60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7488CCF8-4A86-FCFE-9C28-5C26E35F4A94}"/>
              </a:ext>
            </a:extLst>
          </p:cNvPr>
          <p:cNvSpPr/>
          <p:nvPr/>
        </p:nvSpPr>
        <p:spPr>
          <a:xfrm>
            <a:off x="704088" y="2165135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>
                <a:solidFill>
                  <a:srgbClr val="FFFFFF"/>
                </a:solidFill>
                <a:latin typeface="Consolas"/>
              </a:rPr>
              <a:t>Central State Management</a:t>
            </a:r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385C3436-6981-F4C4-A53D-7E0936260849}"/>
              </a:ext>
            </a:extLst>
          </p:cNvPr>
          <p:cNvSpPr/>
          <p:nvPr/>
        </p:nvSpPr>
        <p:spPr>
          <a:xfrm>
            <a:off x="704088" y="3090671"/>
            <a:ext cx="2267712" cy="1064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250">
                <a:solidFill>
                  <a:srgbClr val="D6E6F5"/>
                </a:solidFill>
                <a:ea typeface="Calibri"/>
                <a:cs typeface="Calibri"/>
              </a:rPr>
              <a:t>Sales portal displays current builds with their specific states, starting at DRAFT and moving right up through DELIVERED.</a:t>
            </a:r>
          </a:p>
        </p:txBody>
      </p:sp>
      <p:sp>
        <p:nvSpPr>
          <p:cNvPr id="43" name="card">
            <a:extLst>
              <a:ext uri="{FF2B5EF4-FFF2-40B4-BE49-F238E27FC236}">
                <a16:creationId xmlns:a16="http://schemas.microsoft.com/office/drawing/2014/main" id="{C9840E99-3DE3-A3A7-35BE-7E4BF29419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38144" y="1517904"/>
            <a:ext cx="2670048" cy="2926080"/>
          </a:xfrm>
          <a:prstGeom prst="rect">
            <a:avLst/>
          </a:prstGeom>
          <a:solidFill>
            <a:srgbClr val="10386A"/>
          </a:solidFill>
          <a:ln w="12700">
            <a:solidFill>
              <a:srgbClr val="1C9FB4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corner tick">
            <a:extLst>
              <a:ext uri="{FF2B5EF4-FFF2-40B4-BE49-F238E27FC236}">
                <a16:creationId xmlns:a16="http://schemas.microsoft.com/office/drawing/2014/main" id="{6CAA88C1-E17C-1DD1-CD4A-212AEBAA8C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38144" y="1517904"/>
            <a:ext cx="128016" cy="0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corner tick">
            <a:extLst>
              <a:ext uri="{FF2B5EF4-FFF2-40B4-BE49-F238E27FC236}">
                <a16:creationId xmlns:a16="http://schemas.microsoft.com/office/drawing/2014/main" id="{5C61D242-353A-4678-DE64-D69E00B2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38144" y="1517904"/>
            <a:ext cx="0" cy="128016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corner tick">
            <a:extLst>
              <a:ext uri="{FF2B5EF4-FFF2-40B4-BE49-F238E27FC236}">
                <a16:creationId xmlns:a16="http://schemas.microsoft.com/office/drawing/2014/main" id="{07A03229-0DBE-F03E-3112-63C9D84A4A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80176" y="4443984"/>
            <a:ext cx="128016" cy="0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corner tick">
            <a:extLst>
              <a:ext uri="{FF2B5EF4-FFF2-40B4-BE49-F238E27FC236}">
                <a16:creationId xmlns:a16="http://schemas.microsoft.com/office/drawing/2014/main" id="{E88512C4-728B-1335-224D-617ACB4734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08192" y="4315968"/>
            <a:ext cx="0" cy="128016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33DFEBCB-1458-067F-26E0-7DAC7B8B3782}"/>
              </a:ext>
            </a:extLst>
          </p:cNvPr>
          <p:cNvSpPr/>
          <p:nvPr/>
        </p:nvSpPr>
        <p:spPr>
          <a:xfrm>
            <a:off x="3639312" y="171907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3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600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09170C65-D919-78DF-D007-A8EAB7EF04D3}"/>
              </a:ext>
            </a:extLst>
          </p:cNvPr>
          <p:cNvSpPr/>
          <p:nvPr/>
        </p:nvSpPr>
        <p:spPr>
          <a:xfrm>
            <a:off x="3639312" y="2172462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>
                <a:solidFill>
                  <a:srgbClr val="FFFFFF"/>
                </a:solidFill>
                <a:latin typeface="Consolas"/>
              </a:rPr>
              <a:t>Service Pre-check</a:t>
            </a:r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829F7750-74B8-1A46-4AD8-AA018FBE3782}"/>
              </a:ext>
            </a:extLst>
          </p:cNvPr>
          <p:cNvSpPr/>
          <p:nvPr/>
        </p:nvSpPr>
        <p:spPr>
          <a:xfrm>
            <a:off x="3639312" y="3090672"/>
            <a:ext cx="22677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250">
                <a:solidFill>
                  <a:srgbClr val="D6E6F5"/>
                </a:solidFill>
                <a:ea typeface="Calibri"/>
                <a:cs typeface="Calibri"/>
              </a:rPr>
              <a:t>Customer Service portal verifies that vehicles were delivered before allowing them to be serviced, preventing false service appointment from being created.</a:t>
            </a:r>
            <a:endParaRPr lang="en-US"/>
          </a:p>
        </p:txBody>
      </p:sp>
      <p:sp>
        <p:nvSpPr>
          <p:cNvPr id="51" name="card">
            <a:extLst>
              <a:ext uri="{FF2B5EF4-FFF2-40B4-BE49-F238E27FC236}">
                <a16:creationId xmlns:a16="http://schemas.microsoft.com/office/drawing/2014/main" id="{69599B71-7A2B-F947-5EF2-0B724B641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73368" y="1517904"/>
            <a:ext cx="2670048" cy="2926080"/>
          </a:xfrm>
          <a:prstGeom prst="rect">
            <a:avLst/>
          </a:prstGeom>
          <a:solidFill>
            <a:srgbClr val="10386A"/>
          </a:solidFill>
          <a:ln w="12700">
            <a:solidFill>
              <a:srgbClr val="1C9FB4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corner tick">
            <a:extLst>
              <a:ext uri="{FF2B5EF4-FFF2-40B4-BE49-F238E27FC236}">
                <a16:creationId xmlns:a16="http://schemas.microsoft.com/office/drawing/2014/main" id="{78F1F96E-6B58-20C3-220E-4788F873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73368" y="1517904"/>
            <a:ext cx="128016" cy="0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corner tick">
            <a:extLst>
              <a:ext uri="{FF2B5EF4-FFF2-40B4-BE49-F238E27FC236}">
                <a16:creationId xmlns:a16="http://schemas.microsoft.com/office/drawing/2014/main" id="{69DB61FE-D432-B417-B807-63D5F98972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73368" y="1517904"/>
            <a:ext cx="0" cy="128016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corner tick">
            <a:extLst>
              <a:ext uri="{FF2B5EF4-FFF2-40B4-BE49-F238E27FC236}">
                <a16:creationId xmlns:a16="http://schemas.microsoft.com/office/drawing/2014/main" id="{4890A81E-C4E6-AFE9-A895-17F9A2457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15400" y="4443984"/>
            <a:ext cx="128016" cy="0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corner tick">
            <a:extLst>
              <a:ext uri="{FF2B5EF4-FFF2-40B4-BE49-F238E27FC236}">
                <a16:creationId xmlns:a16="http://schemas.microsoft.com/office/drawing/2014/main" id="{669F32B9-87E1-9951-44AC-59182476B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43416" y="4315968"/>
            <a:ext cx="0" cy="128016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748F45E9-AE4E-6B02-29F0-CBE4B1C49FC0}"/>
              </a:ext>
            </a:extLst>
          </p:cNvPr>
          <p:cNvSpPr/>
          <p:nvPr/>
        </p:nvSpPr>
        <p:spPr>
          <a:xfrm>
            <a:off x="6574536" y="171907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37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600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AFF4C169-429E-1C5B-5274-0B0C4E7E351E}"/>
              </a:ext>
            </a:extLst>
          </p:cNvPr>
          <p:cNvSpPr/>
          <p:nvPr/>
        </p:nvSpPr>
        <p:spPr>
          <a:xfrm>
            <a:off x="6574536" y="2267712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>
                <a:solidFill>
                  <a:srgbClr val="FFFFFF"/>
                </a:solidFill>
                <a:latin typeface="Consolas"/>
              </a:rPr>
              <a:t>Centralized Service Responsibilities</a:t>
            </a:r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E0D93FD2-1139-8832-2908-18A633322763}"/>
              </a:ext>
            </a:extLst>
          </p:cNvPr>
          <p:cNvSpPr/>
          <p:nvPr/>
        </p:nvSpPr>
        <p:spPr>
          <a:xfrm>
            <a:off x="6574536" y="3090672"/>
            <a:ext cx="22677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250">
                <a:solidFill>
                  <a:srgbClr val="D6E6F5"/>
                </a:solidFill>
                <a:latin typeface="Calibri"/>
                <a:ea typeface="Calibri"/>
                <a:cs typeface="Calibri"/>
              </a:rPr>
              <a:t>Service Manager handles task delegation and completes Trade-In tasks, ensuring all connected technicians are being given work.</a:t>
            </a:r>
            <a:endParaRPr lang="en-US" sz="1250">
              <a:solidFill>
                <a:srgbClr val="D6E6F5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738933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grid v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grid 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eet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6032" y="256032"/>
            <a:ext cx="8631936" cy="4631436"/>
          </a:xfrm>
          <a:prstGeom prst="rect">
            <a:avLst/>
          </a:prstGeom>
          <a:ln w="12700">
            <a:solidFill>
              <a:srgbClr val="1C9F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2920" y="3657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300">
                <a:solidFill>
                  <a:srgbClr val="37D2E6"/>
                </a:solidFill>
                <a:latin typeface="Consolas"/>
              </a:rPr>
              <a:t>ADVANCED FEATURES</a:t>
            </a:r>
            <a:endParaRPr lang="en-US"/>
          </a:p>
        </p:txBody>
      </p:sp>
      <p:sp>
        <p:nvSpPr>
          <p:cNvPr id="3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60350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2400" b="1">
                <a:solidFill>
                  <a:srgbClr val="FFFFFF"/>
                </a:solidFill>
                <a:latin typeface="Consolas"/>
              </a:rPr>
              <a:t>Supplier Enterprise</a:t>
            </a:r>
            <a:endParaRPr lang="en-US"/>
          </a:p>
        </p:txBody>
      </p:sp>
      <p:sp>
        <p:nvSpPr>
          <p:cNvPr id="35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2670048" cy="2926080"/>
          </a:xfrm>
          <a:prstGeom prst="rect">
            <a:avLst/>
          </a:prstGeom>
          <a:solidFill>
            <a:srgbClr val="10386A"/>
          </a:solidFill>
          <a:ln w="12700">
            <a:solidFill>
              <a:srgbClr val="1C9FB4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128016" cy="0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0" cy="128016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4952" y="4443984"/>
            <a:ext cx="128016" cy="0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72968" y="4315968"/>
            <a:ext cx="0" cy="128016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04088" y="171907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37D2E6"/>
                </a:solidFill>
                <a:latin typeface="Consolas"/>
              </a:rPr>
              <a:t>04</a:t>
            </a:r>
            <a:endParaRPr lang="en-US" sz="2600"/>
          </a:p>
        </p:txBody>
      </p:sp>
      <p:sp>
        <p:nvSpPr>
          <p:cNvPr id="41" name="Text 39"/>
          <p:cNvSpPr/>
          <p:nvPr/>
        </p:nvSpPr>
        <p:spPr>
          <a:xfrm>
            <a:off x="704088" y="2165135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>
                <a:solidFill>
                  <a:srgbClr val="FFFFFF"/>
                </a:solidFill>
                <a:latin typeface="Consolas"/>
              </a:rPr>
              <a:t>Parts Acquisition &amp; Backordering</a:t>
            </a:r>
          </a:p>
        </p:txBody>
      </p:sp>
      <p:sp>
        <p:nvSpPr>
          <p:cNvPr id="42" name="Text 40"/>
          <p:cNvSpPr/>
          <p:nvPr/>
        </p:nvSpPr>
        <p:spPr>
          <a:xfrm>
            <a:off x="704088" y="2980768"/>
            <a:ext cx="22677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250">
                <a:solidFill>
                  <a:srgbClr val="D6E6F5"/>
                </a:solidFill>
                <a:ea typeface="Calibri"/>
                <a:cs typeface="Calibri"/>
              </a:rPr>
              <a:t>When sending shipments, Logistics Coordinators dispatch Warehouse Clerks to gather the product before shipping out. Clerks can select from Manufacturer Production Organizations sharing the network to backorder from.</a:t>
            </a:r>
          </a:p>
        </p:txBody>
      </p:sp>
      <p:sp>
        <p:nvSpPr>
          <p:cNvPr id="43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38144" y="1517904"/>
            <a:ext cx="2670048" cy="2926080"/>
          </a:xfrm>
          <a:prstGeom prst="rect">
            <a:avLst/>
          </a:prstGeom>
          <a:solidFill>
            <a:srgbClr val="10386A"/>
          </a:solidFill>
          <a:ln w="12700">
            <a:solidFill>
              <a:srgbClr val="1C9FB4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38144" y="1517904"/>
            <a:ext cx="128016" cy="0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38144" y="1517904"/>
            <a:ext cx="0" cy="128016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80176" y="4443984"/>
            <a:ext cx="128016" cy="0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08192" y="4315968"/>
            <a:ext cx="0" cy="128016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639312" y="171907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37D2E6"/>
                </a:solidFill>
                <a:latin typeface="Consolas"/>
              </a:rPr>
              <a:t>05</a:t>
            </a:r>
            <a:endParaRPr lang="en-US" sz="2600"/>
          </a:p>
        </p:txBody>
      </p:sp>
      <p:sp>
        <p:nvSpPr>
          <p:cNvPr id="49" name="Text 47"/>
          <p:cNvSpPr/>
          <p:nvPr/>
        </p:nvSpPr>
        <p:spPr>
          <a:xfrm>
            <a:off x="3639312" y="2172462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>
                <a:solidFill>
                  <a:srgbClr val="FFFFFF"/>
                </a:solidFill>
                <a:latin typeface="Consolas"/>
              </a:rPr>
              <a:t>Smart Routing</a:t>
            </a:r>
          </a:p>
        </p:txBody>
      </p:sp>
      <p:sp>
        <p:nvSpPr>
          <p:cNvPr id="50" name="Text 48"/>
          <p:cNvSpPr/>
          <p:nvPr/>
        </p:nvSpPr>
        <p:spPr>
          <a:xfrm>
            <a:off x="3639312" y="3090672"/>
            <a:ext cx="22677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250">
                <a:solidFill>
                  <a:srgbClr val="D6E6F5"/>
                </a:solidFill>
                <a:ea typeface="Calibri"/>
                <a:cs typeface="Calibri"/>
              </a:rPr>
              <a:t>Users assign themselves a task and the current task button routes them to the correct page based on the task assigned, ensuring users handle only authorized duties.</a:t>
            </a:r>
          </a:p>
        </p:txBody>
      </p:sp>
      <p:sp>
        <p:nvSpPr>
          <p:cNvPr id="51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73368" y="1517904"/>
            <a:ext cx="2670048" cy="2926080"/>
          </a:xfrm>
          <a:prstGeom prst="rect">
            <a:avLst/>
          </a:prstGeom>
          <a:solidFill>
            <a:srgbClr val="10386A"/>
          </a:solidFill>
          <a:ln w="12700">
            <a:solidFill>
              <a:srgbClr val="1C9FB4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73368" y="1517904"/>
            <a:ext cx="128016" cy="0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73368" y="1517904"/>
            <a:ext cx="0" cy="128016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15400" y="4443984"/>
            <a:ext cx="128016" cy="0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corne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43416" y="4315968"/>
            <a:ext cx="0" cy="128016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574536" y="171907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37D2E6"/>
                </a:solidFill>
                <a:latin typeface="Consolas"/>
              </a:rPr>
              <a:t>06</a:t>
            </a:r>
            <a:endParaRPr lang="en-US" sz="2600"/>
          </a:p>
        </p:txBody>
      </p:sp>
      <p:sp>
        <p:nvSpPr>
          <p:cNvPr id="57" name="Text 55"/>
          <p:cNvSpPr/>
          <p:nvPr/>
        </p:nvSpPr>
        <p:spPr>
          <a:xfrm>
            <a:off x="6574536" y="2267712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>
                <a:solidFill>
                  <a:srgbClr val="FFFFFF"/>
                </a:solidFill>
                <a:latin typeface="Consolas"/>
              </a:rPr>
              <a:t>Status View</a:t>
            </a:r>
          </a:p>
        </p:txBody>
      </p:sp>
      <p:sp>
        <p:nvSpPr>
          <p:cNvPr id="58" name="Text 56"/>
          <p:cNvSpPr/>
          <p:nvPr/>
        </p:nvSpPr>
        <p:spPr>
          <a:xfrm>
            <a:off x="6574536" y="3090672"/>
            <a:ext cx="22677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250">
                <a:solidFill>
                  <a:srgbClr val="D6E6F5"/>
                </a:solidFill>
                <a:latin typeface="Calibri"/>
                <a:ea typeface="Calibri"/>
                <a:cs typeface="Calibri"/>
              </a:rPr>
              <a:t>The work queue updates task statuses as they are assigned and stores all completed orders in the organization's out queue, which can be viewed by it's employees.</a:t>
            </a:r>
            <a:endParaRPr lang="en-US" sz="1250">
              <a:solidFill>
                <a:srgbClr val="D6E6F5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858588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B2070-4C34-D037-6242-0BEFC7218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 v">
            <a:extLst>
              <a:ext uri="{FF2B5EF4-FFF2-40B4-BE49-F238E27FC236}">
                <a16:creationId xmlns:a16="http://schemas.microsoft.com/office/drawing/2014/main" id="{2C58A314-FE4D-8F24-0E76-6884632F8D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grid v">
            <a:extLst>
              <a:ext uri="{FF2B5EF4-FFF2-40B4-BE49-F238E27FC236}">
                <a16:creationId xmlns:a16="http://schemas.microsoft.com/office/drawing/2014/main" id="{F3A71470-06A6-0561-AB7B-06750F0127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grid v">
            <a:extLst>
              <a:ext uri="{FF2B5EF4-FFF2-40B4-BE49-F238E27FC236}">
                <a16:creationId xmlns:a16="http://schemas.microsoft.com/office/drawing/2014/main" id="{8E3D6BFD-1256-F3C5-85A4-D539682728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grid v">
            <a:extLst>
              <a:ext uri="{FF2B5EF4-FFF2-40B4-BE49-F238E27FC236}">
                <a16:creationId xmlns:a16="http://schemas.microsoft.com/office/drawing/2014/main" id="{61AA1A5F-6A8E-5E96-CC9C-05CA28C2A5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grid v">
            <a:extLst>
              <a:ext uri="{FF2B5EF4-FFF2-40B4-BE49-F238E27FC236}">
                <a16:creationId xmlns:a16="http://schemas.microsoft.com/office/drawing/2014/main" id="{AE7AE3E0-A78A-FA1E-C2E0-5700D974D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grid v">
            <a:extLst>
              <a:ext uri="{FF2B5EF4-FFF2-40B4-BE49-F238E27FC236}">
                <a16:creationId xmlns:a16="http://schemas.microsoft.com/office/drawing/2014/main" id="{F8E296DB-0914-EB4F-E26C-59FAD8558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grid v">
            <a:extLst>
              <a:ext uri="{FF2B5EF4-FFF2-40B4-BE49-F238E27FC236}">
                <a16:creationId xmlns:a16="http://schemas.microsoft.com/office/drawing/2014/main" id="{824FBA71-CB81-E4AF-3817-55ECF961D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grid v">
            <a:extLst>
              <a:ext uri="{FF2B5EF4-FFF2-40B4-BE49-F238E27FC236}">
                <a16:creationId xmlns:a16="http://schemas.microsoft.com/office/drawing/2014/main" id="{9E056AF8-5E55-3EF4-892C-BEFE675FF6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grid v">
            <a:extLst>
              <a:ext uri="{FF2B5EF4-FFF2-40B4-BE49-F238E27FC236}">
                <a16:creationId xmlns:a16="http://schemas.microsoft.com/office/drawing/2014/main" id="{4E905724-73C4-2242-552C-E63189D684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grid v">
            <a:extLst>
              <a:ext uri="{FF2B5EF4-FFF2-40B4-BE49-F238E27FC236}">
                <a16:creationId xmlns:a16="http://schemas.microsoft.com/office/drawing/2014/main" id="{AD4B9D4F-8C01-7E8E-D86A-116FC16150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grid v">
            <a:extLst>
              <a:ext uri="{FF2B5EF4-FFF2-40B4-BE49-F238E27FC236}">
                <a16:creationId xmlns:a16="http://schemas.microsoft.com/office/drawing/2014/main" id="{4E1ACC6B-194D-E609-2292-A6A57ECB50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grid v">
            <a:extLst>
              <a:ext uri="{FF2B5EF4-FFF2-40B4-BE49-F238E27FC236}">
                <a16:creationId xmlns:a16="http://schemas.microsoft.com/office/drawing/2014/main" id="{C11829CD-75A8-EB81-43A0-DC16055055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grid v">
            <a:extLst>
              <a:ext uri="{FF2B5EF4-FFF2-40B4-BE49-F238E27FC236}">
                <a16:creationId xmlns:a16="http://schemas.microsoft.com/office/drawing/2014/main" id="{4FE1E7FA-74A2-1EE4-1476-C87A26A47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grid v">
            <a:extLst>
              <a:ext uri="{FF2B5EF4-FFF2-40B4-BE49-F238E27FC236}">
                <a16:creationId xmlns:a16="http://schemas.microsoft.com/office/drawing/2014/main" id="{C190BB79-0E3C-50C1-BA85-09149FDAD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grid v">
            <a:extLst>
              <a:ext uri="{FF2B5EF4-FFF2-40B4-BE49-F238E27FC236}">
                <a16:creationId xmlns:a16="http://schemas.microsoft.com/office/drawing/2014/main" id="{5E8F8CBD-E327-7833-820A-C6EE9FE26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grid v">
            <a:extLst>
              <a:ext uri="{FF2B5EF4-FFF2-40B4-BE49-F238E27FC236}">
                <a16:creationId xmlns:a16="http://schemas.microsoft.com/office/drawing/2014/main" id="{4D62F8AD-9C5B-FFCA-8AEA-D546943C8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grid v">
            <a:extLst>
              <a:ext uri="{FF2B5EF4-FFF2-40B4-BE49-F238E27FC236}">
                <a16:creationId xmlns:a16="http://schemas.microsoft.com/office/drawing/2014/main" id="{764E647B-3475-3920-352C-B349F201B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grid v">
            <a:extLst>
              <a:ext uri="{FF2B5EF4-FFF2-40B4-BE49-F238E27FC236}">
                <a16:creationId xmlns:a16="http://schemas.microsoft.com/office/drawing/2014/main" id="{0A64E404-4EF2-F41C-02A6-82FDF13BA8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grid v">
            <a:extLst>
              <a:ext uri="{FF2B5EF4-FFF2-40B4-BE49-F238E27FC236}">
                <a16:creationId xmlns:a16="http://schemas.microsoft.com/office/drawing/2014/main" id="{E5CF7EBB-8F34-31E9-3D81-3BBBEEA645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grid h">
            <a:extLst>
              <a:ext uri="{FF2B5EF4-FFF2-40B4-BE49-F238E27FC236}">
                <a16:creationId xmlns:a16="http://schemas.microsoft.com/office/drawing/2014/main" id="{C4B6191B-7A01-118F-70CD-7A4DDF222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grid h">
            <a:extLst>
              <a:ext uri="{FF2B5EF4-FFF2-40B4-BE49-F238E27FC236}">
                <a16:creationId xmlns:a16="http://schemas.microsoft.com/office/drawing/2014/main" id="{7273F95E-5FBF-A2EC-8351-5F9B46E753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grid h">
            <a:extLst>
              <a:ext uri="{FF2B5EF4-FFF2-40B4-BE49-F238E27FC236}">
                <a16:creationId xmlns:a16="http://schemas.microsoft.com/office/drawing/2014/main" id="{BE83BF3A-A16C-8E1D-2A78-5FADA06B6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grid h">
            <a:extLst>
              <a:ext uri="{FF2B5EF4-FFF2-40B4-BE49-F238E27FC236}">
                <a16:creationId xmlns:a16="http://schemas.microsoft.com/office/drawing/2014/main" id="{95662217-AEA3-2FF2-5A5A-4B8C1BA68B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grid h">
            <a:extLst>
              <a:ext uri="{FF2B5EF4-FFF2-40B4-BE49-F238E27FC236}">
                <a16:creationId xmlns:a16="http://schemas.microsoft.com/office/drawing/2014/main" id="{B255951A-ACDF-3E77-46E0-33577EAC91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grid h">
            <a:extLst>
              <a:ext uri="{FF2B5EF4-FFF2-40B4-BE49-F238E27FC236}">
                <a16:creationId xmlns:a16="http://schemas.microsoft.com/office/drawing/2014/main" id="{21B5ACEE-3709-6AD7-5DB4-A6140D605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grid h">
            <a:extLst>
              <a:ext uri="{FF2B5EF4-FFF2-40B4-BE49-F238E27FC236}">
                <a16:creationId xmlns:a16="http://schemas.microsoft.com/office/drawing/2014/main" id="{B79EFDE0-7109-E860-AC93-05AA542C6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grid h">
            <a:extLst>
              <a:ext uri="{FF2B5EF4-FFF2-40B4-BE49-F238E27FC236}">
                <a16:creationId xmlns:a16="http://schemas.microsoft.com/office/drawing/2014/main" id="{A21678E6-C65A-0B5E-98E4-01F676833A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grid h">
            <a:extLst>
              <a:ext uri="{FF2B5EF4-FFF2-40B4-BE49-F238E27FC236}">
                <a16:creationId xmlns:a16="http://schemas.microsoft.com/office/drawing/2014/main" id="{70353020-23A1-A3D2-0A2F-43D42AE4CB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grid h">
            <a:extLst>
              <a:ext uri="{FF2B5EF4-FFF2-40B4-BE49-F238E27FC236}">
                <a16:creationId xmlns:a16="http://schemas.microsoft.com/office/drawing/2014/main" id="{ABA6E8D5-1293-C40B-38BF-F6F56F8B0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grid h">
            <a:extLst>
              <a:ext uri="{FF2B5EF4-FFF2-40B4-BE49-F238E27FC236}">
                <a16:creationId xmlns:a16="http://schemas.microsoft.com/office/drawing/2014/main" id="{99BE74ED-B743-329A-8143-C6FAFDA57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1B3E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eet frame">
            <a:extLst>
              <a:ext uri="{FF2B5EF4-FFF2-40B4-BE49-F238E27FC236}">
                <a16:creationId xmlns:a16="http://schemas.microsoft.com/office/drawing/2014/main" id="{E3FD7C3C-619C-929B-26CF-211FA07835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6032" y="256032"/>
            <a:ext cx="8631936" cy="4631436"/>
          </a:xfrm>
          <a:prstGeom prst="rect">
            <a:avLst/>
          </a:prstGeom>
          <a:ln w="12700">
            <a:solidFill>
              <a:srgbClr val="1C9F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38347866-043F-ED24-2711-62FAD91918F0}"/>
              </a:ext>
            </a:extLst>
          </p:cNvPr>
          <p:cNvSpPr/>
          <p:nvPr/>
        </p:nvSpPr>
        <p:spPr>
          <a:xfrm>
            <a:off x="502920" y="3657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300">
                <a:solidFill>
                  <a:srgbClr val="37D2E6"/>
                </a:solidFill>
                <a:latin typeface="Consolas"/>
              </a:rPr>
              <a:t>ADVANCED FEATURES</a:t>
            </a:r>
            <a:endParaRPr lang="en-US"/>
          </a:p>
        </p:txBody>
      </p:sp>
      <p:sp>
        <p:nvSpPr>
          <p:cNvPr id="34" name="Text 0">
            <a:extLst>
              <a:ext uri="{FF2B5EF4-FFF2-40B4-BE49-F238E27FC236}">
                <a16:creationId xmlns:a16="http://schemas.microsoft.com/office/drawing/2014/main" id="{F8B6D5B4-0319-9D21-3D39-664130E0AB4E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502920" y="60350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2400" b="1">
                <a:solidFill>
                  <a:srgbClr val="FFFFFF"/>
                </a:solidFill>
                <a:latin typeface="Consolas"/>
              </a:rPr>
              <a:t>Admin</a:t>
            </a:r>
            <a:endParaRPr lang="en-US"/>
          </a:p>
        </p:txBody>
      </p:sp>
      <p:sp>
        <p:nvSpPr>
          <p:cNvPr id="35" name="card">
            <a:extLst>
              <a:ext uri="{FF2B5EF4-FFF2-40B4-BE49-F238E27FC236}">
                <a16:creationId xmlns:a16="http://schemas.microsoft.com/office/drawing/2014/main" id="{8385622E-D3F9-D5BD-B806-95F9DDEEE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2670048" cy="2926080"/>
          </a:xfrm>
          <a:prstGeom prst="rect">
            <a:avLst/>
          </a:prstGeom>
          <a:solidFill>
            <a:srgbClr val="10386A"/>
          </a:solidFill>
          <a:ln w="12700">
            <a:solidFill>
              <a:srgbClr val="1C9FB4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corner tick">
            <a:extLst>
              <a:ext uri="{FF2B5EF4-FFF2-40B4-BE49-F238E27FC236}">
                <a16:creationId xmlns:a16="http://schemas.microsoft.com/office/drawing/2014/main" id="{CEF47995-A2C4-C3B0-1EFF-D32FF5AA60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128016" cy="0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corner tick">
            <a:extLst>
              <a:ext uri="{FF2B5EF4-FFF2-40B4-BE49-F238E27FC236}">
                <a16:creationId xmlns:a16="http://schemas.microsoft.com/office/drawing/2014/main" id="{2685D633-1061-F4A2-6427-3C4BC840B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0" cy="128016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corner tick">
            <a:extLst>
              <a:ext uri="{FF2B5EF4-FFF2-40B4-BE49-F238E27FC236}">
                <a16:creationId xmlns:a16="http://schemas.microsoft.com/office/drawing/2014/main" id="{760179CB-64A8-FBD9-C969-234B992FE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4952" y="4443984"/>
            <a:ext cx="128016" cy="0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corner tick">
            <a:extLst>
              <a:ext uri="{FF2B5EF4-FFF2-40B4-BE49-F238E27FC236}">
                <a16:creationId xmlns:a16="http://schemas.microsoft.com/office/drawing/2014/main" id="{A8E42418-02EE-5D76-787B-FD5BAA595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72968" y="4315968"/>
            <a:ext cx="0" cy="128016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BF050156-E879-21CD-35D7-D0680731AF73}"/>
              </a:ext>
            </a:extLst>
          </p:cNvPr>
          <p:cNvSpPr/>
          <p:nvPr/>
        </p:nvSpPr>
        <p:spPr>
          <a:xfrm>
            <a:off x="704088" y="171907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>
                <a:solidFill>
                  <a:srgbClr val="37D2E6"/>
                </a:solidFill>
                <a:latin typeface="Consolas"/>
              </a:rPr>
              <a:t>10</a:t>
            </a:r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E37F59E6-89C2-0B1A-953F-4B3A2F6095BB}"/>
              </a:ext>
            </a:extLst>
          </p:cNvPr>
          <p:cNvSpPr/>
          <p:nvPr/>
        </p:nvSpPr>
        <p:spPr>
          <a:xfrm>
            <a:off x="704088" y="2165135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>
                <a:solidFill>
                  <a:srgbClr val="FFFFFF"/>
                </a:solidFill>
                <a:latin typeface="Consolas"/>
              </a:rPr>
              <a:t>Reports</a:t>
            </a:r>
            <a:endParaRPr lang="en-US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B247836C-1FF7-52F8-5414-F9A23D66B9FA}"/>
              </a:ext>
            </a:extLst>
          </p:cNvPr>
          <p:cNvSpPr/>
          <p:nvPr/>
        </p:nvSpPr>
        <p:spPr>
          <a:xfrm>
            <a:off x="704088" y="2980768"/>
            <a:ext cx="22677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250">
                <a:solidFill>
                  <a:srgbClr val="D6E6F5"/>
                </a:solidFill>
                <a:ea typeface="Calibri"/>
                <a:cs typeface="Calibri"/>
              </a:rPr>
              <a:t>Each admin area has a reports page that offers various high level insights on organization and user task performance.</a:t>
            </a:r>
            <a:endParaRPr lang="en-US"/>
          </a:p>
        </p:txBody>
      </p:sp>
      <p:sp>
        <p:nvSpPr>
          <p:cNvPr id="43" name="card">
            <a:extLst>
              <a:ext uri="{FF2B5EF4-FFF2-40B4-BE49-F238E27FC236}">
                <a16:creationId xmlns:a16="http://schemas.microsoft.com/office/drawing/2014/main" id="{FFA2F28C-13CF-C116-A78A-0E2B11F2B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38144" y="1517904"/>
            <a:ext cx="2670048" cy="2926080"/>
          </a:xfrm>
          <a:prstGeom prst="rect">
            <a:avLst/>
          </a:prstGeom>
          <a:solidFill>
            <a:srgbClr val="10386A"/>
          </a:solidFill>
          <a:ln w="12700">
            <a:solidFill>
              <a:srgbClr val="1C9FB4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corner tick">
            <a:extLst>
              <a:ext uri="{FF2B5EF4-FFF2-40B4-BE49-F238E27FC236}">
                <a16:creationId xmlns:a16="http://schemas.microsoft.com/office/drawing/2014/main" id="{28A9F758-A8F2-4547-EEA5-6A846CE88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38144" y="1517904"/>
            <a:ext cx="128016" cy="0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corner tick">
            <a:extLst>
              <a:ext uri="{FF2B5EF4-FFF2-40B4-BE49-F238E27FC236}">
                <a16:creationId xmlns:a16="http://schemas.microsoft.com/office/drawing/2014/main" id="{E2ACCC97-F70A-4038-0C63-6FFDB332C3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38144" y="1517904"/>
            <a:ext cx="0" cy="128016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corner tick">
            <a:extLst>
              <a:ext uri="{FF2B5EF4-FFF2-40B4-BE49-F238E27FC236}">
                <a16:creationId xmlns:a16="http://schemas.microsoft.com/office/drawing/2014/main" id="{AA171B9B-8B9C-7688-3733-E17D4B06C9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80176" y="4443984"/>
            <a:ext cx="128016" cy="0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corner tick">
            <a:extLst>
              <a:ext uri="{FF2B5EF4-FFF2-40B4-BE49-F238E27FC236}">
                <a16:creationId xmlns:a16="http://schemas.microsoft.com/office/drawing/2014/main" id="{F34E6BD4-0924-022E-C9E5-4F62CEA43B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08192" y="4315968"/>
            <a:ext cx="0" cy="128016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54C2EE24-B696-EB7F-0016-BEB4C4967BE4}"/>
              </a:ext>
            </a:extLst>
          </p:cNvPr>
          <p:cNvSpPr/>
          <p:nvPr/>
        </p:nvSpPr>
        <p:spPr>
          <a:xfrm>
            <a:off x="3639312" y="171907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37D2E6"/>
                </a:solidFill>
                <a:latin typeface="Consolas"/>
              </a:rPr>
              <a:t>11</a:t>
            </a:r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6CA68E79-EC4A-25AF-A68A-3BD0389038B1}"/>
              </a:ext>
            </a:extLst>
          </p:cNvPr>
          <p:cNvSpPr/>
          <p:nvPr/>
        </p:nvSpPr>
        <p:spPr>
          <a:xfrm>
            <a:off x="3639312" y="2172462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>
                <a:solidFill>
                  <a:srgbClr val="FFFFFF"/>
                </a:solidFill>
                <a:latin typeface="Consolas"/>
              </a:rPr>
              <a:t>Full CRUD</a:t>
            </a:r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D3A25E0A-A0F6-6455-CEE0-1E7D94B5BCC2}"/>
              </a:ext>
            </a:extLst>
          </p:cNvPr>
          <p:cNvSpPr/>
          <p:nvPr/>
        </p:nvSpPr>
        <p:spPr>
          <a:xfrm>
            <a:off x="3639312" y="3090672"/>
            <a:ext cx="22677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250">
                <a:solidFill>
                  <a:srgbClr val="D6E6F5"/>
                </a:solidFill>
                <a:ea typeface="Calibri"/>
                <a:cs typeface="Calibri"/>
              </a:rPr>
              <a:t>Admin work area contains areas for creating, reading, updating, and deleting enterprise organizations, employees, and user accounts.</a:t>
            </a:r>
          </a:p>
        </p:txBody>
      </p:sp>
      <p:sp>
        <p:nvSpPr>
          <p:cNvPr id="51" name="card">
            <a:extLst>
              <a:ext uri="{FF2B5EF4-FFF2-40B4-BE49-F238E27FC236}">
                <a16:creationId xmlns:a16="http://schemas.microsoft.com/office/drawing/2014/main" id="{B9CB6537-CFD9-6154-A8E0-983F1489C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73368" y="1517904"/>
            <a:ext cx="2670048" cy="2926080"/>
          </a:xfrm>
          <a:prstGeom prst="rect">
            <a:avLst/>
          </a:prstGeom>
          <a:solidFill>
            <a:srgbClr val="10386A"/>
          </a:solidFill>
          <a:ln w="12700">
            <a:solidFill>
              <a:srgbClr val="1C9FB4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corner tick">
            <a:extLst>
              <a:ext uri="{FF2B5EF4-FFF2-40B4-BE49-F238E27FC236}">
                <a16:creationId xmlns:a16="http://schemas.microsoft.com/office/drawing/2014/main" id="{DD1C58EE-6FED-A03A-9EE5-B508AEB7A8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73368" y="1517904"/>
            <a:ext cx="128016" cy="0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corner tick">
            <a:extLst>
              <a:ext uri="{FF2B5EF4-FFF2-40B4-BE49-F238E27FC236}">
                <a16:creationId xmlns:a16="http://schemas.microsoft.com/office/drawing/2014/main" id="{4F8E9DDB-BBF2-2B48-6D18-48853DE71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73368" y="1517904"/>
            <a:ext cx="0" cy="128016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corner tick">
            <a:extLst>
              <a:ext uri="{FF2B5EF4-FFF2-40B4-BE49-F238E27FC236}">
                <a16:creationId xmlns:a16="http://schemas.microsoft.com/office/drawing/2014/main" id="{3FFCF825-91A4-AB84-3E52-B4AAA00564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15400" y="4443984"/>
            <a:ext cx="128016" cy="0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corner tick">
            <a:extLst>
              <a:ext uri="{FF2B5EF4-FFF2-40B4-BE49-F238E27FC236}">
                <a16:creationId xmlns:a16="http://schemas.microsoft.com/office/drawing/2014/main" id="{804D16FE-C397-A6CD-400E-E4F961C09B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43416" y="4315968"/>
            <a:ext cx="0" cy="128016"/>
          </a:xfrm>
          <a:prstGeom prst="line">
            <a:avLst/>
          </a:prstGeom>
          <a:noFill/>
          <a:ln w="19050">
            <a:solidFill>
              <a:srgbClr val="37D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C0B0CE46-5ACA-30AA-B12C-A9DB914753DE}"/>
              </a:ext>
            </a:extLst>
          </p:cNvPr>
          <p:cNvSpPr/>
          <p:nvPr/>
        </p:nvSpPr>
        <p:spPr>
          <a:xfrm>
            <a:off x="6574536" y="171907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37D2E6"/>
                </a:solidFill>
                <a:latin typeface="Consolas"/>
              </a:rPr>
              <a:t>12</a:t>
            </a:r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E3B974BA-AF3C-B354-B32A-0894EC2123D1}"/>
              </a:ext>
            </a:extLst>
          </p:cNvPr>
          <p:cNvSpPr/>
          <p:nvPr/>
        </p:nvSpPr>
        <p:spPr>
          <a:xfrm>
            <a:off x="6574536" y="2267712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>
                <a:solidFill>
                  <a:srgbClr val="FFFFFF"/>
                </a:solidFill>
                <a:latin typeface="Consolas"/>
              </a:rPr>
              <a:t>Template Security</a:t>
            </a:r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C91F67CF-236E-D2D8-17FE-A02A542DE16F}"/>
              </a:ext>
            </a:extLst>
          </p:cNvPr>
          <p:cNvSpPr/>
          <p:nvPr/>
        </p:nvSpPr>
        <p:spPr>
          <a:xfrm>
            <a:off x="6574536" y="3090672"/>
            <a:ext cx="22677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250">
                <a:solidFill>
                  <a:srgbClr val="D6E6F5"/>
                </a:solidFill>
                <a:ea typeface="Calibri"/>
                <a:cs typeface="Calibri"/>
              </a:rPr>
              <a:t>Although admins have the same portals, type checking is enforced, preventing admins from creating organizations for the wrong enterprise type.</a:t>
            </a:r>
          </a:p>
        </p:txBody>
      </p:sp>
    </p:spTree>
    <p:extLst>
      <p:ext uri="{BB962C8B-B14F-4D97-AF65-F5344CB8AC3E}">
        <p14:creationId xmlns:p14="http://schemas.microsoft.com/office/powerpoint/2010/main" val="20561160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41727-8CF8-79A8-1941-D7A8A3A304A3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xfrm>
            <a:off x="457200" y="1897500"/>
            <a:ext cx="8229600" cy="640080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  <a:hlinkClick r:id="rId2"/>
              </a:rPr>
              <a:t>Link to git hub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0123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a8eec281-aaa3-4dae-ac9b-9a398b9215e7}" enabled="0" method="" siteId="{a8eec281-aaa3-4dae-ac9b-9a398b9215e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1632</Words>
  <Application>Microsoft Office PowerPoint</Application>
  <PresentationFormat>On-screen Show (16:9)</PresentationFormat>
  <Paragraphs>353</Paragraphs>
  <Slides>23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Consolas</vt:lpstr>
      <vt:lpstr>Office Theme</vt:lpstr>
      <vt:lpstr>GLOBAL AUTO ECOSYSTEM</vt:lpstr>
      <vt:lpstr>One vehicle, three enterprises, no shared record</vt:lpstr>
      <vt:lpstr>Three properties make this the ideal test domain</vt:lpstr>
      <vt:lpstr>PowerPoint Presentation</vt:lpstr>
      <vt:lpstr>Separate legal entities across national boundaries</vt:lpstr>
      <vt:lpstr>Where the work — and the data — actually happens</vt:lpstr>
      <vt:lpstr>The actors who drive every use case</vt:lpstr>
      <vt:lpstr>The VIN is the join key across every module</vt:lpstr>
      <vt:lpstr>One lifecycle, from order to second life — tracked end to end</vt:lpstr>
      <vt:lpstr>How the design is built and enforced</vt:lpstr>
      <vt:lpstr>Beyond status tracking — the full build scope</vt:lpstr>
      <vt:lpstr>Use cases that exercise the whole design</vt:lpstr>
      <vt:lpstr>Two end-to-end use cases that move status across borders</vt:lpstr>
      <vt:lpstr>Remove any one enterprise and value collapses</vt:lpstr>
      <vt:lpstr>Every implementation criterion, satisfied </vt:lpstr>
      <vt:lpstr>UML Diagram - Link</vt:lpstr>
      <vt:lpstr>Ecosystem:</vt:lpstr>
      <vt:lpstr>Use Case 1:</vt:lpstr>
      <vt:lpstr>Use Case 3:</vt:lpstr>
      <vt:lpstr>Dealership Enterprise</vt:lpstr>
      <vt:lpstr>Supplier Enterprise</vt:lpstr>
      <vt:lpstr>Admin</vt:lpstr>
      <vt:lpstr>Link to git hub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Meredith Molyneux</dc:creator>
  <cp:lastModifiedBy>Meredith Molyneux</cp:lastModifiedBy>
  <cp:revision>1</cp:revision>
  <dcterms:created xsi:type="dcterms:W3CDTF">2026-07-23T20:49:36Z</dcterms:created>
  <dcterms:modified xsi:type="dcterms:W3CDTF">2026-08-04T18:25:25Z</dcterms:modified>
</cp:coreProperties>
</file>